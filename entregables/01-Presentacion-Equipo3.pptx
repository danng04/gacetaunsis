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4d7c9013-292e-e59c-d623-52cb809e0bc1}">
          <p14:sldIdLst>
            <p14:sldId id="256"/>
            <p14:sldId id="257"/>
          </p14:sldIdLst>
        </p14:section>
        <p14:section name="El reto" id="{e9d74dff-b88e-2380-ca32-0f43d59d1db7}">
          <p14:sldIdLst>
            <p14:sldId id="258"/>
          </p14:sldIdLst>
        </p14:section>
        <p14:section name="Equipo y contexto" id="{19e28a1a-1ed1-091f-335c-16d66d22b575}">
          <p14:sldIdLst>
            <p14:sldId id="259"/>
          </p14:sldIdLst>
        </p14:section>
        <p14:section name="Cómo lo resolvimos" id="{b7cc346b-87f0-dc6c-055d-27ccd5e03181}">
          <p14:sldIdLst>
            <p14:sldId id="260"/>
            <p14:sldId id="261"/>
          </p14:sldIdLst>
        </p14:section>
        <p14:section name="Evidencia en AWS" id="{57417088-db83-b51d-7b5c-1934b9147ba2}">
          <p14:sldIdLst>
            <p14:sldId id="262"/>
            <p14:sldId id="263"/>
            <p14:sldId id="264"/>
          </p14:sldIdLst>
        </p14:section>
        <p14:section name="Errores controlados" id="{d41597aa-f224-9ec2-7d87-566500aa09ca}">
          <p14:sldIdLst>
            <p14:sldId id="265"/>
            <p14:sldId id="266"/>
            <p14:sldId id="267"/>
            <p14:sldId id="268"/>
            <p14:sldId id="269"/>
            <p14:sldId id="270"/>
          </p14:sldIdLst>
        </p14:section>
        <p14:section name="Cierre" id="{fb88051e-59b8-2c96-01b3-904c66130343}">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Daniel.
Buenos días. Somos el Equipo 3 y nos tocó monitoreo y resiliencia de la Gaceta Universitaria «El Unsito». En pocas palabras: hicimos que la publicación de noticias funcione sola dentro de AWS, y que cuando algo falle, el sistema lo detecte, lo registre, lo reintente y nos avise.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Daniel.
Este es el recorrido: primero el problema que encontramos, luego quiénes somos, cómo lo resolvimos, qué evidencia tenemos en AWS, qué pasó cuando rompimos cosas a propósito y, al final, seguridad, costos y lo que aprendimos.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Daniel.
Cuando llegamos, la gaceta ya funcionaba: subía fotos a S3 y guardaba noticias en DynamoDB. El detalle es que el navegador era el que coordinaba todo. Primero subía la imagen y luego hacía una segunda llamada para guardar. Si esa segunda llamada se perdía —se cerró la pestaña, falló la red, falló la base de datos— la foto quedaba en S3 sin noticia y nadie se daba cuenta. La rúbrica nos pidió justo eso: quitar esa llamada del navegador, que el evento de S3 dispare la Lambda, y poder ver y manejar los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Daniel.
Somos Daniel, Mayra, Gael y Elisa, de la Universidad de la Sierra Sur. Trabajamos en la región de Ohio, us-east-2, sobre el mismo bucket y la misma tabla que usa todo el grupo, así que una regla fue no romper nada de lo compartido.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Daniel.
Arriba está cómo funcionaba antes: el navegador hacía dos llamadas y la segunda era el punto débil. Abajo, cómo funciona ahora: el navegador solo sube la foto. En cuanto la foto llega a S3, S3 dispara un evento —la flecha roja— que despierta a una Lambda nueva, la procesadora, y ella guarda la noticia en DynamoDB. Todo lo que hace la procesadora queda registrado en CloudWatch, que es nuestro sistema de vigilancia.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Mayra.
Sigamos una noticia de principio a fin. Uno: la web manda los datos y recibe un permiso temporal para subir, que es la URL prefirmada; los datos se quedan guardados como pendientes. Dos: la foto sube directo a S3. Tres: S3 detecta que llegó un objeto nuevo en la carpeta imagenes y despierta a la procesadora; nadie la tiene que llamar. Cuatro: la procesadora junta la foto con sus datos, valida y guarda. Mientras tanto la web pregunta cada dos segundos: ¿ya quedó?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Mayra.
Esta es la pieza central. En la consola de Lambda se ve el desencadenador de S3 configurado. En el recuadro rojo: el bucket de imágenes, el tipo de evento ObjectCreated y el prefijo imagenes/. Elegimos ese prefijo a propósito: los datos pendientes se guardan en otra carpeta, pendientes/, y la procesadora no escribe en S3, así que no hay riesgo de que se llame a sí misma en un ciclo infinito.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Mayra.
En lugar de mensajes sueltos, la procesadora escribe una línea JSON por etapa: inicio, validado y guardado, cada una con el id de la noticia, el requestId y la duración. Así cualquiera puede buscar una noticia y ver exactamente en qué paso va o en cuál falló. Ojo: nunca registramos firmas de URL ni el texto completo de la noticia, solo identificadores. Toda esta publicación tardó 1.56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Mayra.
Aquí está la prueba de que funciona. En DynamoDB aparece la noticia, y marcamos dos cosas: su id y el campo origen, que dice s3-evento. Ese campo lo pone la procesadora, así que sabemos que la noticia entró por el camino nuevo. Además, revisando la red del navegador, no hubo ninguna llamada a la Lambda de agregar. Al recargar, la noticia se ve en el sitio con su foto.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Gael.
Un sistema no es resiliente porque nunca falle, sino porque sabe qué hacer cuando falla. Así que rompimos cosas a propósito. La rúbrica pide tres casos. Uno: si la imagen no se sube, no hay evento y no queda nada a medias. Dos: si llega una imagen sin sus datos, es un error que no se arregla reintentando, así que lo registramos y terminamos. Tres: si falla la base de datos, ese sí vale la pena reintentarlo, así que lanzamos el error para que Lambda lo reintente y la alarma se encienda. Ahora les mostramos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Gael.
Primera prueba de error: simulamos que llega una foto pero sus datos no existen. La procesadora lo detecta, escribe en el log validacion_fallida con el motivo, NoSuchKey, y termina limpia. Arriba, en rojo, se ve que la ejecución terminó sin errores; abajo, la línea del log con el motivo. Decidimos que esto sea terminal: reintentar no va a hacer aparecer los datos, y así no gastamos ejecuciones de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Gael.
Segunda prueba, la más importante. Para simular que la base de datos falla sin dañar la tabla de todos, cambiamos una variable de entorno para que la procesadora apunte a una tabla que no existe. Publicamos una noticia y en los logs se ven tres errores, marcados en rojo, con el mismo requestId: el intento original y los dos reintentos que configuramos, abajo a la derecha. Cuando regresamos la variable a la tabla correcta, la noticia se guardó con el mismo id. No se perdió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Gael.
La rúbrica pide una señal observable. Elegimos la métrica Errors, que Lambda publica sola en CloudWatch. Aquí se ve el pico de errores y cómo la tasa de éxito bajó a cero durante la falla. En el panel de eventos asíncronos se ven los tres intentos y que uno se descartó al agotar los reintentos. Importante: esto solo funciona porque la procesadora relanza el error; si lo atrapara y devolviera un 500, la métrica no se movería.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Gael.
Con la métrica creamos la alarma gaceta-procesadora-errores: si hay al menos un error en un minuto, se enciende. Arriba se ve el momento exacto, 23:46:42, en que pasó de Correcto a En modo alarma. Abajo, la franja roja es el tiempo que duró el problema y, al corregirlo, a las 23:51:42 volvió sola a Correcto. No le pusimos notificación por correo para no generar suscripciones, pero se puede agregar con SNS en un clic.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Gael.
Dos comprobaciones más. A la izquierda, el evento repetido: S3 puede entregar el mismo evento dos veces, así que lo forzamos. La procesadora escribe con una condición, solo si el id no existe, y el log marca duplicado: queda un solo registro. A la derecha, el procesamiento lento: mientras la base de datos estaba fallando, la web no se quedó colgada ni volvió a mandar la noticia; avisó que la imagen se subió y que la noticia sigue en procesamiento. Cuando se recuperó, apareció una sola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Elisa.
En resumen, así fuimos comprobando el sistema. Primero, en condiciones normales: la noticia se publica sola y sigue ahí al recargar. Después, provocando fallos a propósito: una imagen sin datos se descarta, una caída de la base se reintenta y se recupera, la métrica y la alarma lo detectan, un evento repetido no duplica y la web espera sin reenviar. En todos los casos el sistema hizo lo que esperábamos, y cada uno tiene su captura en el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Elisa.
Al principio la procesadora usaba un rol con PowerUserAccess, que es como darle la llave de todo el edificio para abrir una sola puerta. Creamos un rol propio, procesar-imagen-noticia-rol, que solo puede leer los pendientes, guardar noticias y escribir sus propios logs. No puede leer imágenes, ni borrar ni recorrer la tabla. Después de cambiarlo volvimos a correr las pruebas y todo siguió funcionando. Lo honesto: las otras tres Lambdas del proyecto todavía usan el rol amplio.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Elisa.
Cuidamos el crédito de 100 dólares de referencia. Revisamos el saldo antes y después de cada sesión: empezamos con 120 y terminamos con 120, gasto cero, porque todo cayó en el nivel gratuito. Pusimos retención de logs de tres días y etiquetamos lo que creamos. A la derecha está la lista de limpieza, en orden: primero el disparador, para que no se invoque nada mientras borramos.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Elisa.
Para cerrar: lo que aporta nuestro trabajo es que la gaceta ya no depende de que el navegador termine bien. Si algo falla, queda registrado, se reintenta y suena una alarma. Lo que nos faltó, y lo decimos con claridad: una cola de mensajes fallidos con SQS, que era la ampliación opcional; que la alarma mande correo con SNS; que los pendientes caduquen solos; y darle un rol mínimo a cada Lambda, no solo a la nuestra.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todo el equipo.
Gracias. ¿Tienen preguntas? Si quieren ver algo en vivo, podemos abrir CloudWatch y buscar los logs por id de noticia.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274320" y="274320"/>
            <a:ext cx="11643055" cy="6309360"/>
          </a:xfrm>
          <a:prstGeom prst="rect">
            <a:avLst/>
          </a:prstGeom>
          <a:ln w="44450">
            <a:solidFill>
              <a:schemeClr val="accent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274320" y="274320"/>
            <a:ext cx="11643055" cy="6309360"/>
          </a:xfrm>
          <a:prstGeom prst="rect">
            <a:avLst/>
          </a:prstGeom>
          <a:ln w="44450">
            <a:solidFill>
              <a:schemeClr val="accent2"/>
            </a:solidFill>
            <a:prstDash val="solid"/>
          </a:ln>
        </p:spPr>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ULO">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274320" y="274320"/>
            <a:ext cx="11643055" cy="6309360"/>
          </a:xfrm>
          <a:prstGeom prst="rect">
            <a:avLst/>
          </a:prstGeom>
          <a:ln w="44450">
            <a:solidFill>
              <a:schemeClr val="accent2"/>
            </a:solidFill>
            <a:prstDash val="solid"/>
          </a:ln>
        </p:spPr>
      </p:sp>
      <p:sp>
        <p:nvSpPr>
          <p:cNvPr id="3" name="Text 1"/>
          <p:cNvSpPr/>
          <p:nvPr>
            <p:ph idx="101" type="title" hasCustomPrompt="1"/>
          </p:nvPr>
        </p:nvSpPr>
        <p:spPr>
          <a:xfrm>
            <a:off x="777240" y="548640"/>
            <a:ext cx="8778240"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 Id="rId4" Type="http://schemas.openxmlformats.org/officeDocument/2006/relationships/image" Target="../media/diagrama-arquitectura.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 Id="rId4" Type="http://schemas.openxmlformats.org/officeDocument/2006/relationships/image" Target="../media/diagrama-secuencia.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 Id="rId4" Type="http://schemas.openxmlformats.org/officeDocument/2006/relationships/image" Target="../media/diagrama-errores.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nda-tl" descr="Decoración">    </p:cNvPr>
          <p:cNvPicPr>
            <a:picLocks noChangeAspect="1"/>
          </p:cNvPicPr>
          <p:nvPr/>
        </p:nvPicPr>
        <p:blipFill>
          <a:blip r:embed="rId1"/>
          <a:stretch>
            <a:fillRect/>
          </a:stretch>
        </p:blipFill>
        <p:spPr>
          <a:xfrm>
            <a:off x="0" y="0"/>
            <a:ext cx="3291840" cy="3291840"/>
          </a:xfrm>
          <a:prstGeom prst="rect">
            <a:avLst/>
          </a:prstGeom>
        </p:spPr>
      </p:pic>
      <p:pic>
        <p:nvPicPr>
          <p:cNvPr id="3" name="onda-br" descr="Decoración">    </p:cNvPr>
          <p:cNvPicPr>
            <a:picLocks noChangeAspect="1"/>
          </p:cNvPicPr>
          <p:nvPr/>
        </p:nvPicPr>
        <p:blipFill>
          <a:blip r:embed="rId2"/>
          <a:stretch>
            <a:fillRect/>
          </a:stretch>
        </p:blipFill>
        <p:spPr>
          <a:xfrm>
            <a:off x="8899855" y="3566160"/>
            <a:ext cx="3291840" cy="3291840"/>
          </a:xfrm>
          <a:prstGeom prst="rect">
            <a:avLst/>
          </a:prstGeom>
        </p:spPr>
      </p:pic>
      <p:pic>
        <p:nvPicPr>
          <p:cNvPr id="4" name="logo" descr="Logo de la Universidad de la Sierra Sur">    </p:cNvPr>
          <p:cNvPicPr>
            <a:picLocks noChangeAspect="1"/>
          </p:cNvPicPr>
          <p:nvPr/>
        </p:nvPicPr>
        <p:blipFill>
          <a:blip r:embed="rId3"/>
          <a:stretch>
            <a:fillRect/>
          </a:stretch>
        </p:blipFill>
        <p:spPr>
          <a:xfrm>
            <a:off x="10408615" y="548640"/>
            <a:ext cx="1143000" cy="1143000"/>
          </a:xfrm>
          <a:prstGeom prst="rect">
            <a:avLst/>
          </a:prstGeom>
        </p:spPr>
      </p:pic>
      <p:sp>
        <p:nvSpPr>
          <p:cNvPr id="5" name="universidad"/>
          <p:cNvSpPr txBox="1"/>
          <p:nvPr/>
        </p:nvSpPr>
        <p:spPr>
          <a:xfrm>
            <a:off x="6979615" y="868680"/>
            <a:ext cx="3291840" cy="457200"/>
          </a:xfrm>
          <a:prstGeom prst="rect">
            <a:avLst/>
          </a:prstGeom>
          <a:noFill/>
          <a:ln/>
        </p:spPr>
        <p:txBody>
          <a:bodyPr wrap="square" lIns="0" tIns="0" rIns="0" bIns="0" rtlCol="0" anchor="ctr"/>
          <a:lstStyle/>
          <a:p>
            <a:pPr algn="r" indent="0" marL="0">
              <a:buNone/>
            </a:pPr>
            <a:r>
              <a:rPr lang="en-US" sz="1400" b="1" dirty="0">
                <a:solidFill>
                  <a:schemeClr val="tx1"/>
                </a:solidFill>
              </a:rPr>
              <a:t>Universidad de la Sierra Sur</a:t>
            </a:r>
            <a:endParaRPr lang="en-US" sz="1400" dirty="0"/>
          </a:p>
        </p:txBody>
      </p:sp>
      <p:pic>
        <p:nvPicPr>
          <p:cNvPr id="6" name="titulo-caligrafico" descr="Monitoreo y">    </p:cNvPr>
          <p:cNvPicPr>
            <a:picLocks noChangeAspect="1"/>
          </p:cNvPicPr>
          <p:nvPr/>
        </p:nvPicPr>
        <p:blipFill>
          <a:blip r:embed="rId4"/>
          <a:stretch>
            <a:fillRect/>
          </a:stretch>
        </p:blipFill>
        <p:spPr>
          <a:xfrm>
            <a:off x="4175608" y="1600200"/>
            <a:ext cx="3840480" cy="1146005"/>
          </a:xfrm>
          <a:prstGeom prst="rect">
            <a:avLst/>
          </a:prstGeom>
        </p:spPr>
      </p:pic>
      <p:sp>
        <p:nvSpPr>
          <p:cNvPr id="7" name="titulo"/>
          <p:cNvSpPr txBox="1"/>
          <p:nvPr/>
        </p:nvSpPr>
        <p:spPr>
          <a:xfrm>
            <a:off x="1371600" y="2606040"/>
            <a:ext cx="9448495" cy="1188720"/>
          </a:xfrm>
          <a:prstGeom prst="rect">
            <a:avLst/>
          </a:prstGeom>
          <a:noFill/>
          <a:ln/>
        </p:spPr>
        <p:txBody>
          <a:bodyPr wrap="square" lIns="0" tIns="0" rIns="0" bIns="0" rtlCol="0" anchor="ctr"/>
          <a:lstStyle/>
          <a:p>
            <a:pPr algn="ctr" indent="0" marL="0">
              <a:buNone/>
            </a:pPr>
            <a:r>
              <a:rPr lang="en-US" sz="8000" b="1" spc="200" kern="0" dirty="0">
                <a:solidFill>
                  <a:schemeClr val="tx1"/>
                </a:solidFill>
              </a:rPr>
              <a:t>RESILIENCIA</a:t>
            </a:r>
            <a:endParaRPr lang="en-US" sz="8000" dirty="0"/>
          </a:p>
        </p:txBody>
      </p:sp>
      <p:sp>
        <p:nvSpPr>
          <p:cNvPr id="8" name="subtitulo"/>
          <p:cNvSpPr txBox="1"/>
          <p:nvPr/>
        </p:nvSpPr>
        <p:spPr>
          <a:xfrm>
            <a:off x="1828800" y="3794760"/>
            <a:ext cx="8534095" cy="411480"/>
          </a:xfrm>
          <a:prstGeom prst="rect">
            <a:avLst/>
          </a:prstGeom>
          <a:noFill/>
          <a:ln/>
        </p:spPr>
        <p:txBody>
          <a:bodyPr wrap="square" lIns="0" tIns="0" rIns="0" bIns="0" rtlCol="0" anchor="ctr"/>
          <a:lstStyle/>
          <a:p>
            <a:pPr algn="ctr" indent="0" marL="0">
              <a:buNone/>
            </a:pPr>
            <a:r>
              <a:rPr lang="en-US" sz="1800" dirty="0">
                <a:solidFill>
                  <a:schemeClr val="tx2"/>
                </a:solidFill>
              </a:rPr>
              <a:t>Gaceta Universitaria «El Unsito» en Amazon Web Services</a:t>
            </a:r>
            <a:endParaRPr lang="en-US" sz="1800" dirty="0"/>
          </a:p>
        </p:txBody>
      </p:sp>
      <p:sp>
        <p:nvSpPr>
          <p:cNvPr id="9" name="equipo"/>
          <p:cNvSpPr txBox="1"/>
          <p:nvPr/>
        </p:nvSpPr>
        <p:spPr>
          <a:xfrm>
            <a:off x="5090008" y="4389120"/>
            <a:ext cx="2011680" cy="384048"/>
          </a:xfrm>
          <a:prstGeom prst="roundRect">
            <a:avLst>
              <a:gd name="adj" fmla="val 47619"/>
            </a:avLst>
          </a:prstGeom>
          <a:solidFill>
            <a:schemeClr val="accent2"/>
          </a:solidFill>
          <a:ln/>
        </p:spPr>
        <p:txBody>
          <a:bodyPr wrap="square" lIns="0" tIns="0" rIns="0" bIns="0" rtlCol="0" anchor="ctr"/>
          <a:lstStyle/>
          <a:p>
            <a:pPr algn="ctr" indent="0" marL="0">
              <a:buNone/>
            </a:pPr>
            <a:r>
              <a:rPr lang="en-US" sz="1600" b="1" dirty="0">
                <a:solidFill>
                  <a:schemeClr val="tx1"/>
                </a:solidFill>
              </a:rPr>
              <a:t>Equipo 3</a:t>
            </a:r>
            <a:endParaRPr lang="en-US" sz="1600" dirty="0"/>
          </a:p>
        </p:txBody>
      </p:sp>
      <p:sp>
        <p:nvSpPr>
          <p:cNvPr id="10" name="integrantes"/>
          <p:cNvSpPr txBox="1"/>
          <p:nvPr/>
        </p:nvSpPr>
        <p:spPr>
          <a:xfrm>
            <a:off x="1463040" y="4892040"/>
            <a:ext cx="9265615" cy="365760"/>
          </a:xfrm>
          <a:prstGeom prst="rect">
            <a:avLst/>
          </a:prstGeom>
          <a:noFill/>
          <a:ln/>
        </p:spPr>
        <p:txBody>
          <a:bodyPr wrap="square" lIns="0" tIns="0" rIns="0" bIns="0" rtlCol="0" anchor="ctr"/>
          <a:lstStyle/>
          <a:p>
            <a:pPr algn="ctr" indent="0" marL="0">
              <a:buNone/>
            </a:pPr>
            <a:r>
              <a:rPr lang="en-US" sz="1400" dirty="0">
                <a:solidFill>
                  <a:schemeClr val="tx1"/>
                </a:solidFill>
              </a:rPr>
              <a:t>Daniel González Ruiz  ·  Mayra Castellanos Pacheco  ·  Gael Eduardo García Pinacho  ·  Elisa Sánchez Martínez</a:t>
            </a:r>
            <a:endParaRPr lang="en-US" sz="1400" dirty="0"/>
          </a:p>
        </p:txBody>
      </p:sp>
      <p:sp>
        <p:nvSpPr>
          <p:cNvPr id="11" name="materia"/>
          <p:cNvSpPr txBox="1"/>
          <p:nvPr/>
        </p:nvSpPr>
        <p:spPr>
          <a:xfrm>
            <a:off x="685800" y="5577840"/>
            <a:ext cx="5486400" cy="594360"/>
          </a:xfrm>
          <a:prstGeom prst="rect">
            <a:avLst/>
          </a:prstGeom>
          <a:noFill/>
          <a:ln/>
        </p:spPr>
        <p:txBody>
          <a:bodyPr wrap="square" lIns="0" tIns="0" rIns="0" bIns="0" rtlCol="0" anchor="b"/>
          <a:lstStyle/>
          <a:p>
            <a:pPr indent="0" marL="0">
              <a:buNone/>
            </a:pPr>
            <a:r>
              <a:rPr lang="en-US" sz="1300" b="1" dirty="0">
                <a:solidFill>
                  <a:schemeClr val="tx1"/>
                </a:solidFill>
              </a:rPr>
              <a:t>Tecnologías de la Información I</a:t>
            </a:r>
            <a:endParaRPr lang="en-US" sz="1300" dirty="0"/>
          </a:p>
          <a:p>
            <a:pPr indent="0" marL="0">
              <a:buNone/>
            </a:pPr>
            <a:r>
              <a:rPr lang="en-US" sz="1300" dirty="0">
                <a:solidFill>
                  <a:schemeClr val="tx1"/>
                </a:solidFill>
              </a:rPr>
              <a:t>Docente: M.C.C. Eliezer Alcazar Silva</a:t>
            </a:r>
            <a:endParaRPr lang="en-US" sz="1300" dirty="0"/>
          </a:p>
        </p:txBody>
      </p:sp>
      <p:sp>
        <p:nvSpPr>
          <p:cNvPr id="12" name="fecha"/>
          <p:cNvSpPr txBox="1"/>
          <p:nvPr/>
        </p:nvSpPr>
        <p:spPr>
          <a:xfrm>
            <a:off x="6019495" y="5806440"/>
            <a:ext cx="2743200" cy="365760"/>
          </a:xfrm>
          <a:prstGeom prst="rect">
            <a:avLst/>
          </a:prstGeom>
          <a:noFill/>
          <a:ln/>
        </p:spPr>
        <p:txBody>
          <a:bodyPr wrap="square" lIns="0" tIns="0" rIns="0" bIns="0" rtlCol="0" anchor="b"/>
          <a:lstStyle/>
          <a:p>
            <a:pPr algn="r" indent="0" marL="0">
              <a:buNone/>
            </a:pPr>
            <a:r>
              <a:rPr lang="en-US" sz="1300" dirty="0">
                <a:solidFill>
                  <a:schemeClr val="tx1"/>
                </a:solidFill>
              </a:rPr>
              <a:t>Octubre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nda-tr" descr="Decoración">    </p:cNvPr>
          <p:cNvPicPr>
            <a:picLocks noChangeAspect="1"/>
          </p:cNvPicPr>
          <p:nvPr/>
        </p:nvPicPr>
        <p:blipFill>
          <a:blip r:embed="rId1"/>
          <a:stretch>
            <a:fillRect/>
          </a:stretch>
        </p:blipFill>
        <p:spPr>
          <a:xfrm>
            <a:off x="9448495" y="0"/>
            <a:ext cx="2743200" cy="2743200"/>
          </a:xfrm>
          <a:prstGeom prst="rect">
            <a:avLst/>
          </a:prstGeom>
        </p:spPr>
      </p:pic>
      <p:sp>
        <p:nvSpPr>
          <p:cNvPr id="3" name="titulo"/>
          <p:cNvSpPr txBox="1"/>
          <p:nvPr/>
        </p:nvSpPr>
        <p:spPr>
          <a:xfrm>
            <a:off x="777240" y="822960"/>
            <a:ext cx="6400800" cy="1097280"/>
          </a:xfrm>
          <a:prstGeom prst="rect">
            <a:avLst/>
          </a:prstGeom>
          <a:noFill/>
          <a:ln/>
        </p:spPr>
        <p:txBody>
          <a:bodyPr wrap="square" lIns="0" tIns="0" rIns="0" bIns="0" rtlCol="0" anchor="ctr"/>
          <a:lstStyle/>
          <a:p>
            <a:pPr indent="0" marL="0">
              <a:buNone/>
            </a:pPr>
            <a:r>
              <a:rPr lang="en-US" sz="5400" b="1" dirty="0">
                <a:solidFill>
                  <a:schemeClr val="tx1"/>
                </a:solidFill>
              </a:rPr>
              <a:t>Contenido</a:t>
            </a:r>
            <a:endParaRPr lang="en-US" sz="5400" dirty="0"/>
          </a:p>
        </p:txBody>
      </p:sp>
      <p:sp>
        <p:nvSpPr>
          <p:cNvPr id="4" name="num-1"/>
          <p:cNvSpPr txBox="1"/>
          <p:nvPr/>
        </p:nvSpPr>
        <p:spPr>
          <a:xfrm>
            <a:off x="1051560" y="2423160"/>
            <a:ext cx="685800" cy="685800"/>
          </a:xfrm>
          <a:prstGeom prst="rect">
            <a:avLst/>
          </a:prstGeom>
          <a:solidFill>
            <a:schemeClr val="accent1"/>
          </a:solid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5" name="agenda-1"/>
          <p:cNvSpPr txBox="1"/>
          <p:nvPr/>
        </p:nvSpPr>
        <p:spPr>
          <a:xfrm>
            <a:off x="1965960" y="2423160"/>
            <a:ext cx="4023360" cy="685800"/>
          </a:xfrm>
          <a:prstGeom prst="rect">
            <a:avLst/>
          </a:prstGeom>
          <a:noFill/>
          <a:ln/>
        </p:spPr>
        <p:txBody>
          <a:bodyPr wrap="square" lIns="0" tIns="0" rIns="0" bIns="0" rtlCol="0" anchor="ctr"/>
          <a:lstStyle/>
          <a:p>
            <a:pPr indent="0" marL="0">
              <a:buNone/>
            </a:pPr>
            <a:r>
              <a:rPr lang="en-US" sz="1800" dirty="0">
                <a:solidFill>
                  <a:schemeClr val="tx1"/>
                </a:solidFill>
              </a:rPr>
              <a:t>El reto</a:t>
            </a:r>
            <a:endParaRPr lang="en-US" sz="1800" dirty="0"/>
          </a:p>
        </p:txBody>
      </p:sp>
      <p:sp>
        <p:nvSpPr>
          <p:cNvPr id="6" name="num-2"/>
          <p:cNvSpPr txBox="1"/>
          <p:nvPr/>
        </p:nvSpPr>
        <p:spPr>
          <a:xfrm>
            <a:off x="1051560" y="3566160"/>
            <a:ext cx="685800" cy="685800"/>
          </a:xfrm>
          <a:prstGeom prst="rect">
            <a:avLst/>
          </a:prstGeom>
          <a:solidFill>
            <a:schemeClr val="accent1"/>
          </a:solid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7" name="agenda-2"/>
          <p:cNvSpPr txBox="1"/>
          <p:nvPr/>
        </p:nvSpPr>
        <p:spPr>
          <a:xfrm>
            <a:off x="1965960" y="3566160"/>
            <a:ext cx="4023360" cy="685800"/>
          </a:xfrm>
          <a:prstGeom prst="rect">
            <a:avLst/>
          </a:prstGeom>
          <a:noFill/>
          <a:ln/>
        </p:spPr>
        <p:txBody>
          <a:bodyPr wrap="square" lIns="0" tIns="0" rIns="0" bIns="0" rtlCol="0" anchor="ctr"/>
          <a:lstStyle/>
          <a:p>
            <a:pPr indent="0" marL="0">
              <a:buNone/>
            </a:pPr>
            <a:r>
              <a:rPr lang="en-US" sz="1800" dirty="0">
                <a:solidFill>
                  <a:schemeClr val="tx1"/>
                </a:solidFill>
              </a:rPr>
              <a:t>Equipo y contexto</a:t>
            </a:r>
            <a:endParaRPr lang="en-US" sz="1800" dirty="0"/>
          </a:p>
        </p:txBody>
      </p:sp>
      <p:sp>
        <p:nvSpPr>
          <p:cNvPr id="8" name="num-3"/>
          <p:cNvSpPr txBox="1"/>
          <p:nvPr/>
        </p:nvSpPr>
        <p:spPr>
          <a:xfrm>
            <a:off x="1051560" y="4709160"/>
            <a:ext cx="685800" cy="685800"/>
          </a:xfrm>
          <a:prstGeom prst="rect">
            <a:avLst/>
          </a:prstGeom>
          <a:solidFill>
            <a:schemeClr val="accent1"/>
          </a:solid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9" name="agenda-3"/>
          <p:cNvSpPr txBox="1"/>
          <p:nvPr/>
        </p:nvSpPr>
        <p:spPr>
          <a:xfrm>
            <a:off x="1965960" y="4709160"/>
            <a:ext cx="4023360" cy="685800"/>
          </a:xfrm>
          <a:prstGeom prst="rect">
            <a:avLst/>
          </a:prstGeom>
          <a:noFill/>
          <a:ln/>
        </p:spPr>
        <p:txBody>
          <a:bodyPr wrap="square" lIns="0" tIns="0" rIns="0" bIns="0" rtlCol="0" anchor="ctr"/>
          <a:lstStyle/>
          <a:p>
            <a:pPr indent="0" marL="0">
              <a:buNone/>
            </a:pPr>
            <a:r>
              <a:rPr lang="en-US" sz="1800" dirty="0">
                <a:solidFill>
                  <a:schemeClr val="tx1"/>
                </a:solidFill>
              </a:rPr>
              <a:t>Cómo lo resolvimos</a:t>
            </a:r>
            <a:endParaRPr lang="en-US" sz="1800" dirty="0"/>
          </a:p>
        </p:txBody>
      </p:sp>
      <p:sp>
        <p:nvSpPr>
          <p:cNvPr id="10" name="num-4"/>
          <p:cNvSpPr txBox="1"/>
          <p:nvPr/>
        </p:nvSpPr>
        <p:spPr>
          <a:xfrm>
            <a:off x="6172200" y="2423160"/>
            <a:ext cx="685800" cy="685800"/>
          </a:xfrm>
          <a:prstGeom prst="rect">
            <a:avLst/>
          </a:prstGeom>
          <a:solidFill>
            <a:schemeClr val="accent1"/>
          </a:solidFill>
          <a:ln/>
        </p:spPr>
        <p:txBody>
          <a:bodyPr wrap="square" lIns="0" tIns="0" rIns="0" bIns="0" rtlCol="0" anchor="ctr"/>
          <a:lstStyle/>
          <a:p>
            <a:pPr algn="ctr" indent="0" marL="0">
              <a:buNone/>
            </a:pPr>
            <a:r>
              <a:rPr lang="en-US" sz="3000" b="1" dirty="0">
                <a:solidFill>
                  <a:schemeClr val="bg1"/>
                </a:solidFill>
              </a:rPr>
              <a:t>4</a:t>
            </a:r>
            <a:endParaRPr lang="en-US" sz="3000" dirty="0"/>
          </a:p>
        </p:txBody>
      </p:sp>
      <p:sp>
        <p:nvSpPr>
          <p:cNvPr id="11" name="agenda-4"/>
          <p:cNvSpPr txBox="1"/>
          <p:nvPr/>
        </p:nvSpPr>
        <p:spPr>
          <a:xfrm>
            <a:off x="7086600" y="2423160"/>
            <a:ext cx="4023360" cy="685800"/>
          </a:xfrm>
          <a:prstGeom prst="rect">
            <a:avLst/>
          </a:prstGeom>
          <a:noFill/>
          <a:ln/>
        </p:spPr>
        <p:txBody>
          <a:bodyPr wrap="square" lIns="0" tIns="0" rIns="0" bIns="0" rtlCol="0" anchor="ctr"/>
          <a:lstStyle/>
          <a:p>
            <a:pPr indent="0" marL="0">
              <a:buNone/>
            </a:pPr>
            <a:r>
              <a:rPr lang="en-US" sz="1800" dirty="0">
                <a:solidFill>
                  <a:schemeClr val="tx1"/>
                </a:solidFill>
              </a:rPr>
              <a:t>Evidencia en AWS</a:t>
            </a:r>
            <a:endParaRPr lang="en-US" sz="1800" dirty="0"/>
          </a:p>
        </p:txBody>
      </p:sp>
      <p:sp>
        <p:nvSpPr>
          <p:cNvPr id="12" name="num-5"/>
          <p:cNvSpPr txBox="1"/>
          <p:nvPr/>
        </p:nvSpPr>
        <p:spPr>
          <a:xfrm>
            <a:off x="6172200" y="3566160"/>
            <a:ext cx="685800" cy="685800"/>
          </a:xfrm>
          <a:prstGeom prst="rect">
            <a:avLst/>
          </a:prstGeom>
          <a:solidFill>
            <a:schemeClr val="accent1"/>
          </a:solidFill>
          <a:ln/>
        </p:spPr>
        <p:txBody>
          <a:bodyPr wrap="square" lIns="0" tIns="0" rIns="0" bIns="0" rtlCol="0" anchor="ctr"/>
          <a:lstStyle/>
          <a:p>
            <a:pPr algn="ctr" indent="0" marL="0">
              <a:buNone/>
            </a:pPr>
            <a:r>
              <a:rPr lang="en-US" sz="3000" b="1" dirty="0">
                <a:solidFill>
                  <a:schemeClr val="bg1"/>
                </a:solidFill>
              </a:rPr>
              <a:t>5</a:t>
            </a:r>
            <a:endParaRPr lang="en-US" sz="3000" dirty="0"/>
          </a:p>
        </p:txBody>
      </p:sp>
      <p:sp>
        <p:nvSpPr>
          <p:cNvPr id="13" name="agenda-5"/>
          <p:cNvSpPr txBox="1"/>
          <p:nvPr/>
        </p:nvSpPr>
        <p:spPr>
          <a:xfrm>
            <a:off x="7086600" y="3566160"/>
            <a:ext cx="4023360" cy="685800"/>
          </a:xfrm>
          <a:prstGeom prst="rect">
            <a:avLst/>
          </a:prstGeom>
          <a:noFill/>
          <a:ln/>
        </p:spPr>
        <p:txBody>
          <a:bodyPr wrap="square" lIns="0" tIns="0" rIns="0" bIns="0" rtlCol="0" anchor="ctr"/>
          <a:lstStyle/>
          <a:p>
            <a:pPr indent="0" marL="0">
              <a:buNone/>
            </a:pPr>
            <a:r>
              <a:rPr lang="en-US" sz="1800" dirty="0">
                <a:solidFill>
                  <a:schemeClr val="tx1"/>
                </a:solidFill>
              </a:rPr>
              <a:t>Provocamos errores a propósito</a:t>
            </a:r>
            <a:endParaRPr lang="en-US" sz="1800" dirty="0"/>
          </a:p>
        </p:txBody>
      </p:sp>
      <p:sp>
        <p:nvSpPr>
          <p:cNvPr id="14" name="num-6"/>
          <p:cNvSpPr txBox="1"/>
          <p:nvPr/>
        </p:nvSpPr>
        <p:spPr>
          <a:xfrm>
            <a:off x="6172200" y="4709160"/>
            <a:ext cx="685800" cy="685800"/>
          </a:xfrm>
          <a:prstGeom prst="rect">
            <a:avLst/>
          </a:prstGeom>
          <a:solidFill>
            <a:schemeClr val="accent1"/>
          </a:solidFill>
          <a:ln/>
        </p:spPr>
        <p:txBody>
          <a:bodyPr wrap="square" lIns="0" tIns="0" rIns="0" bIns="0" rtlCol="0" anchor="ctr"/>
          <a:lstStyle/>
          <a:p>
            <a:pPr algn="ctr" indent="0" marL="0">
              <a:buNone/>
            </a:pPr>
            <a:r>
              <a:rPr lang="en-US" sz="3000" b="1" dirty="0">
                <a:solidFill>
                  <a:schemeClr val="bg1"/>
                </a:solidFill>
              </a:rPr>
              <a:t>6</a:t>
            </a:r>
            <a:endParaRPr lang="en-US" sz="3000" dirty="0"/>
          </a:p>
        </p:txBody>
      </p:sp>
      <p:sp>
        <p:nvSpPr>
          <p:cNvPr id="15" name="agenda-6"/>
          <p:cNvSpPr txBox="1"/>
          <p:nvPr/>
        </p:nvSpPr>
        <p:spPr>
          <a:xfrm>
            <a:off x="7086600" y="4709160"/>
            <a:ext cx="4023360" cy="685800"/>
          </a:xfrm>
          <a:prstGeom prst="rect">
            <a:avLst/>
          </a:prstGeom>
          <a:noFill/>
          <a:ln/>
        </p:spPr>
        <p:txBody>
          <a:bodyPr wrap="square" lIns="0" tIns="0" rIns="0" bIns="0" rtlCol="0" anchor="ctr"/>
          <a:lstStyle/>
          <a:p>
            <a:pPr indent="0" marL="0">
              <a:buNone/>
            </a:pPr>
            <a:r>
              <a:rPr lang="en-US" sz="1800" dirty="0">
                <a:solidFill>
                  <a:schemeClr val="tx1"/>
                </a:solidFill>
              </a:rPr>
              <a:t>Seguridad, costos y conclusiones</a:t>
            </a:r>
            <a:endParaRPr lang="en-US" sz="18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nda-tr" descr="Decoración">    </p:cNvPr>
          <p:cNvPicPr>
            <a:picLocks noChangeAspect="1"/>
          </p:cNvPicPr>
          <p:nvPr/>
        </p:nvPicPr>
        <p:blipFill>
          <a:blip r:embed="rId1"/>
          <a:stretch>
            <a:fillRect/>
          </a:stretch>
        </p:blipFill>
        <p:spPr>
          <a:xfrm>
            <a:off x="9631375" y="0"/>
            <a:ext cx="2560320" cy="2560320"/>
          </a:xfrm>
          <a:prstGeom prst="rect">
            <a:avLst/>
          </a:prstGeom>
        </p:spPr>
      </p:pic>
      <p:pic>
        <p:nvPicPr>
          <p:cNvPr id="3" name="onda-bl" descr="Decoración">    </p:cNvPr>
          <p:cNvPicPr>
            <a:picLocks noChangeAspect="1"/>
          </p:cNvPicPr>
          <p:nvPr/>
        </p:nvPicPr>
        <p:blipFill>
          <a:blip r:embed="rId2"/>
          <a:stretch>
            <a:fillRect/>
          </a:stretch>
        </p:blipFill>
        <p:spPr>
          <a:xfrm>
            <a:off x="0" y="4297680"/>
            <a:ext cx="2560320" cy="2560320"/>
          </a:xfrm>
          <a:prstGeom prst="rect">
            <a:avLst/>
          </a:prstGeom>
        </p:spPr>
      </p:pic>
      <p:sp>
        <p:nvSpPr>
          <p:cNvPr id="4" name="titulo"/>
          <p:cNvSpPr txBox="1"/>
          <p:nvPr/>
        </p:nvSpPr>
        <p:spPr>
          <a:xfrm>
            <a:off x="1371600" y="1234440"/>
            <a:ext cx="9448495" cy="1097280"/>
          </a:xfrm>
          <a:prstGeom prst="rect">
            <a:avLst/>
          </a:prstGeom>
          <a:noFill/>
          <a:ln/>
        </p:spPr>
        <p:txBody>
          <a:bodyPr wrap="square" lIns="0" tIns="0" rIns="0" bIns="0" rtlCol="0" anchor="ctr"/>
          <a:lstStyle/>
          <a:p>
            <a:pPr algn="ctr" indent="0" marL="0">
              <a:buNone/>
            </a:pPr>
            <a:r>
              <a:rPr lang="en-US" sz="5400" b="1" dirty="0">
                <a:solidFill>
                  <a:schemeClr val="tx1"/>
                </a:solidFill>
              </a:rPr>
              <a:t>¿Y si algo falla?</a:t>
            </a:r>
            <a:endParaRPr lang="en-US" sz="5400" dirty="0"/>
          </a:p>
        </p:txBody>
      </p:sp>
      <p:sp>
        <p:nvSpPr>
          <p:cNvPr id="5" name="etiqueta-reto"/>
          <p:cNvSpPr txBox="1"/>
          <p:nvPr/>
        </p:nvSpPr>
        <p:spPr>
          <a:xfrm>
            <a:off x="4541368" y="2468880"/>
            <a:ext cx="3108960" cy="384048"/>
          </a:xfrm>
          <a:prstGeom prst="roundRect">
            <a:avLst>
              <a:gd name="adj" fmla="val 47619"/>
            </a:avLst>
          </a:prstGeom>
          <a:solidFill>
            <a:schemeClr val="accent2"/>
          </a:solidFill>
          <a:ln/>
        </p:spPr>
        <p:txBody>
          <a:bodyPr wrap="square" lIns="0" tIns="0" rIns="0" bIns="0" rtlCol="0" anchor="ctr"/>
          <a:lstStyle/>
          <a:p>
            <a:pPr algn="ctr" indent="0" marL="0">
              <a:buNone/>
            </a:pPr>
            <a:r>
              <a:rPr lang="en-US" sz="1400" b="1" dirty="0">
                <a:solidFill>
                  <a:schemeClr val="tx1"/>
                </a:solidFill>
              </a:rPr>
              <a:t>El reto del Equipo 3</a:t>
            </a:r>
            <a:endParaRPr lang="en-US" sz="1400" dirty="0"/>
          </a:p>
        </p:txBody>
      </p:sp>
      <p:sp>
        <p:nvSpPr>
          <p:cNvPr id="6" name="planteamiento"/>
          <p:cNvSpPr txBox="1"/>
          <p:nvPr/>
        </p:nvSpPr>
        <p:spPr>
          <a:xfrm>
            <a:off x="2377440" y="3154680"/>
            <a:ext cx="7436815" cy="1188720"/>
          </a:xfrm>
          <a:prstGeom prst="rect">
            <a:avLst/>
          </a:prstGeom>
          <a:noFill/>
          <a:ln/>
        </p:spPr>
        <p:txBody>
          <a:bodyPr wrap="square" lIns="0" tIns="0" rIns="0" bIns="0" rtlCol="0" anchor="t"/>
          <a:lstStyle/>
          <a:p>
            <a:pPr algn="ctr" indent="0" marL="0">
              <a:lnSpc>
                <a:spcPct val="115000"/>
              </a:lnSpc>
              <a:buNone/>
            </a:pPr>
            <a:r>
              <a:rPr lang="en-US" sz="1800" dirty="0">
                <a:solidFill>
                  <a:schemeClr val="tx1"/>
                </a:solidFill>
              </a:rPr>
              <a:t>La gaceta ya podía publicar noticias con imagen, pero el navegador hacía todo el trabajo: primero subía la foto y después llamaba a otra función para guardar la noticia. </a:t>
            </a:r>
            <a:pPr algn="ctr" indent="0" marL="0">
              <a:lnSpc>
                <a:spcPct val="115000"/>
              </a:lnSpc>
              <a:buNone/>
            </a:pPr>
            <a:r>
              <a:rPr lang="en-US" sz="1800" b="1" dirty="0">
                <a:solidFill>
                  <a:schemeClr val="tx1"/>
                </a:solidFill>
              </a:rPr>
              <a:t>Si esa segunda llamada fallaba, la imagen quedaba huérfana y nadie se enteraba.</a:t>
            </a:r>
            <a:endParaRPr lang="en-US" sz="1800" dirty="0"/>
          </a:p>
        </p:txBody>
      </p:sp>
      <p:sp>
        <p:nvSpPr>
          <p:cNvPr id="7" name="mision"/>
          <p:cNvSpPr txBox="1"/>
          <p:nvPr/>
        </p:nvSpPr>
        <p:spPr>
          <a:xfrm>
            <a:off x="2377440" y="4572000"/>
            <a:ext cx="7436815" cy="731520"/>
          </a:xfrm>
          <a:prstGeom prst="rect">
            <a:avLst/>
          </a:prstGeom>
          <a:noFill/>
          <a:ln/>
        </p:spPr>
        <p:txBody>
          <a:bodyPr wrap="square" lIns="0" tIns="0" rIns="0" bIns="0" rtlCol="0" anchor="t"/>
          <a:lstStyle/>
          <a:p>
            <a:pPr algn="ctr" indent="0" marL="0">
              <a:buNone/>
            </a:pPr>
            <a:r>
              <a:rPr lang="en-US" sz="1600" b="1" i="1" dirty="0">
                <a:solidFill>
                  <a:schemeClr val="accent1"/>
                </a:solidFill>
              </a:rPr>
              <a:t>Nuestra misión: que la nube reaccione sola al llegar la imagen y que todo error deje rastro, se reintente y avise.</a:t>
            </a:r>
            <a:endParaRPr lang="en-US" sz="16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Equipo de trabajo</a:t>
            </a:r>
            <a:endParaRPr lang="en-US" sz="3600" dirty="0"/>
          </a:p>
        </p:txBody>
      </p:sp>
      <p:pic>
        <p:nvPicPr>
          <p:cNvPr id="3" name="onda-br" descr="Decoración">    </p:cNvPr>
          <p:cNvPicPr>
            <a:picLocks noChangeAspect="1"/>
          </p:cNvPicPr>
          <p:nvPr/>
        </p:nvPicPr>
        <p:blipFill>
          <a:blip r:embed="rId1"/>
          <a:stretch>
            <a:fillRect/>
          </a:stretch>
        </p:blipFill>
        <p:spPr>
          <a:xfrm>
            <a:off x="9997135" y="4663440"/>
            <a:ext cx="2194560" cy="2194560"/>
          </a:xfrm>
          <a:prstGeom prst="rect">
            <a:avLst/>
          </a:prstGeom>
        </p:spPr>
      </p:pic>
      <p:sp>
        <p:nvSpPr>
          <p:cNvPr id="4" name="marco-entrada.jpg"/>
          <p:cNvSpPr/>
          <p:nvPr/>
        </p:nvSpPr>
        <p:spPr>
          <a:xfrm>
            <a:off x="6848856" y="859536"/>
            <a:ext cx="4544568" cy="2327148"/>
          </a:xfrm>
          <a:prstGeom prst="rect">
            <a:avLst/>
          </a:prstGeom>
          <a:solidFill>
            <a:schemeClr val="accent1"/>
          </a:solidFill>
          <a:ln/>
        </p:spPr>
      </p:sp>
      <p:pic>
        <p:nvPicPr>
          <p:cNvPr id="5" name="img-entrada.jpg" descr="Entrada principal de la UNSIS">    </p:cNvPr>
          <p:cNvPicPr>
            <a:picLocks noChangeAspect="1"/>
          </p:cNvPicPr>
          <p:nvPr/>
        </p:nvPicPr>
        <p:blipFill>
          <a:blip r:embed="rId2"/>
          <a:stretch>
            <a:fillRect/>
          </a:stretch>
        </p:blipFill>
        <p:spPr>
          <a:xfrm>
            <a:off x="6903720" y="914400"/>
            <a:ext cx="4434840" cy="2217420"/>
          </a:xfrm>
          <a:prstGeom prst="rect">
            <a:avLst/>
          </a:prstGeom>
        </p:spPr>
      </p:pic>
      <p:sp>
        <p:nvSpPr>
          <p:cNvPr id="6" name="etiqueta-equipo"/>
          <p:cNvSpPr txBox="1"/>
          <p:nvPr/>
        </p:nvSpPr>
        <p:spPr>
          <a:xfrm>
            <a:off x="777240" y="1554480"/>
            <a:ext cx="3108960" cy="384048"/>
          </a:xfrm>
          <a:prstGeom prst="roundRect">
            <a:avLst>
              <a:gd name="adj" fmla="val 47619"/>
            </a:avLst>
          </a:prstGeom>
          <a:solidFill>
            <a:schemeClr val="accent1"/>
          </a:solidFill>
          <a:ln/>
        </p:spPr>
        <p:txBody>
          <a:bodyPr wrap="square" lIns="0" tIns="0" rIns="0" bIns="0" rtlCol="0" anchor="ctr"/>
          <a:lstStyle/>
          <a:p>
            <a:pPr algn="ctr" indent="0" marL="0">
              <a:buNone/>
            </a:pPr>
            <a:r>
              <a:rPr lang="en-US" sz="1400" b="1" dirty="0">
                <a:solidFill>
                  <a:schemeClr val="bg1"/>
                </a:solidFill>
              </a:rPr>
              <a:t>Monitoreo y resiliencia</a:t>
            </a:r>
            <a:endParaRPr lang="en-US" sz="1400" dirty="0"/>
          </a:p>
        </p:txBody>
      </p:sp>
      <p:sp>
        <p:nvSpPr>
          <p:cNvPr id="7" name="iniciales-1"/>
          <p:cNvSpPr txBox="1"/>
          <p:nvPr/>
        </p:nvSpPr>
        <p:spPr>
          <a:xfrm>
            <a:off x="777240" y="2286000"/>
            <a:ext cx="530352" cy="530352"/>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tx1"/>
                </a:solidFill>
              </a:rPr>
              <a:t>DG</a:t>
            </a:r>
            <a:endParaRPr lang="en-US" sz="1500" dirty="0"/>
          </a:p>
        </p:txBody>
      </p:sp>
      <p:sp>
        <p:nvSpPr>
          <p:cNvPr id="8" name="integrante-1"/>
          <p:cNvSpPr txBox="1"/>
          <p:nvPr/>
        </p:nvSpPr>
        <p:spPr>
          <a:xfrm>
            <a:off x="1508760" y="2286000"/>
            <a:ext cx="4754880" cy="530352"/>
          </a:xfrm>
          <a:prstGeom prst="rect">
            <a:avLst/>
          </a:prstGeom>
          <a:noFill/>
          <a:ln/>
        </p:spPr>
        <p:txBody>
          <a:bodyPr wrap="square" lIns="0" tIns="0" rIns="0" bIns="0" rtlCol="0" anchor="ctr"/>
          <a:lstStyle/>
          <a:p>
            <a:pPr indent="0" marL="0">
              <a:buNone/>
            </a:pPr>
            <a:r>
              <a:rPr lang="en-US" sz="1800" dirty="0">
                <a:solidFill>
                  <a:schemeClr val="tx1"/>
                </a:solidFill>
              </a:rPr>
              <a:t>Daniel González Ruiz</a:t>
            </a:r>
            <a:endParaRPr lang="en-US" sz="1800" dirty="0"/>
          </a:p>
        </p:txBody>
      </p:sp>
      <p:sp>
        <p:nvSpPr>
          <p:cNvPr id="9" name="iniciales-2"/>
          <p:cNvSpPr txBox="1"/>
          <p:nvPr/>
        </p:nvSpPr>
        <p:spPr>
          <a:xfrm>
            <a:off x="777240" y="2999232"/>
            <a:ext cx="530352" cy="530352"/>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tx1"/>
                </a:solidFill>
              </a:rPr>
              <a:t>MC</a:t>
            </a:r>
            <a:endParaRPr lang="en-US" sz="1500" dirty="0"/>
          </a:p>
        </p:txBody>
      </p:sp>
      <p:sp>
        <p:nvSpPr>
          <p:cNvPr id="10" name="integrante-2"/>
          <p:cNvSpPr txBox="1"/>
          <p:nvPr/>
        </p:nvSpPr>
        <p:spPr>
          <a:xfrm>
            <a:off x="1508760" y="2999232"/>
            <a:ext cx="4754880" cy="530352"/>
          </a:xfrm>
          <a:prstGeom prst="rect">
            <a:avLst/>
          </a:prstGeom>
          <a:noFill/>
          <a:ln/>
        </p:spPr>
        <p:txBody>
          <a:bodyPr wrap="square" lIns="0" tIns="0" rIns="0" bIns="0" rtlCol="0" anchor="ctr"/>
          <a:lstStyle/>
          <a:p>
            <a:pPr indent="0" marL="0">
              <a:buNone/>
            </a:pPr>
            <a:r>
              <a:rPr lang="en-US" sz="1800" dirty="0">
                <a:solidFill>
                  <a:schemeClr val="tx1"/>
                </a:solidFill>
              </a:rPr>
              <a:t>Mayra Castellanos Pacheco</a:t>
            </a:r>
            <a:endParaRPr lang="en-US" sz="1800" dirty="0"/>
          </a:p>
        </p:txBody>
      </p:sp>
      <p:sp>
        <p:nvSpPr>
          <p:cNvPr id="11" name="iniciales-3"/>
          <p:cNvSpPr txBox="1"/>
          <p:nvPr/>
        </p:nvSpPr>
        <p:spPr>
          <a:xfrm>
            <a:off x="777240" y="3712464"/>
            <a:ext cx="530352" cy="530352"/>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tx1"/>
                </a:solidFill>
              </a:rPr>
              <a:t>GE</a:t>
            </a:r>
            <a:endParaRPr lang="en-US" sz="1500" dirty="0"/>
          </a:p>
        </p:txBody>
      </p:sp>
      <p:sp>
        <p:nvSpPr>
          <p:cNvPr id="12" name="integrante-3"/>
          <p:cNvSpPr txBox="1"/>
          <p:nvPr/>
        </p:nvSpPr>
        <p:spPr>
          <a:xfrm>
            <a:off x="1508760" y="3712464"/>
            <a:ext cx="4754880" cy="530352"/>
          </a:xfrm>
          <a:prstGeom prst="rect">
            <a:avLst/>
          </a:prstGeom>
          <a:noFill/>
          <a:ln/>
        </p:spPr>
        <p:txBody>
          <a:bodyPr wrap="square" lIns="0" tIns="0" rIns="0" bIns="0" rtlCol="0" anchor="ctr"/>
          <a:lstStyle/>
          <a:p>
            <a:pPr indent="0" marL="0">
              <a:buNone/>
            </a:pPr>
            <a:r>
              <a:rPr lang="en-US" sz="1800" dirty="0">
                <a:solidFill>
                  <a:schemeClr val="tx1"/>
                </a:solidFill>
              </a:rPr>
              <a:t>Gael Eduardo García Pinacho</a:t>
            </a:r>
            <a:endParaRPr lang="en-US" sz="1800" dirty="0"/>
          </a:p>
        </p:txBody>
      </p:sp>
      <p:sp>
        <p:nvSpPr>
          <p:cNvPr id="13" name="iniciales-4"/>
          <p:cNvSpPr txBox="1"/>
          <p:nvPr/>
        </p:nvSpPr>
        <p:spPr>
          <a:xfrm>
            <a:off x="777240" y="4425696"/>
            <a:ext cx="530352" cy="530352"/>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tx1"/>
                </a:solidFill>
              </a:rPr>
              <a:t>ES</a:t>
            </a:r>
            <a:endParaRPr lang="en-US" sz="1500" dirty="0"/>
          </a:p>
        </p:txBody>
      </p:sp>
      <p:sp>
        <p:nvSpPr>
          <p:cNvPr id="14" name="integrante-4"/>
          <p:cNvSpPr txBox="1"/>
          <p:nvPr/>
        </p:nvSpPr>
        <p:spPr>
          <a:xfrm>
            <a:off x="1508760" y="4425696"/>
            <a:ext cx="4754880" cy="530352"/>
          </a:xfrm>
          <a:prstGeom prst="rect">
            <a:avLst/>
          </a:prstGeom>
          <a:noFill/>
          <a:ln/>
        </p:spPr>
        <p:txBody>
          <a:bodyPr wrap="square" lIns="0" tIns="0" rIns="0" bIns="0" rtlCol="0" anchor="ctr"/>
          <a:lstStyle/>
          <a:p>
            <a:pPr indent="0" marL="0">
              <a:buNone/>
            </a:pPr>
            <a:r>
              <a:rPr lang="en-US" sz="1800" dirty="0">
                <a:solidFill>
                  <a:schemeClr val="tx1"/>
                </a:solidFill>
              </a:rPr>
              <a:t>Elisa Sánchez Martínez</a:t>
            </a:r>
            <a:endParaRPr lang="en-US" sz="1800" dirty="0"/>
          </a:p>
        </p:txBody>
      </p:sp>
      <p:sp>
        <p:nvSpPr>
          <p:cNvPr id="15" name="datos-curso"/>
          <p:cNvSpPr txBox="1"/>
          <p:nvPr/>
        </p:nvSpPr>
        <p:spPr>
          <a:xfrm>
            <a:off x="6858000" y="4526280"/>
            <a:ext cx="4480560" cy="10972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Materia: </a:t>
            </a:r>
            <a:pPr indent="0" marL="0">
              <a:spcAft>
                <a:spcPts val="400"/>
              </a:spcAft>
              <a:buNone/>
            </a:pPr>
            <a:r>
              <a:rPr lang="en-US" sz="1400" dirty="0">
                <a:solidFill>
                  <a:schemeClr val="tx1"/>
                </a:solidFill>
              </a:rPr>
              <a:t>Tecnologías de la Información I</a:t>
            </a:r>
            <a:endParaRPr lang="en-US" sz="1400" dirty="0"/>
          </a:p>
          <a:p>
            <a:pPr indent="0" marL="0">
              <a:spcAft>
                <a:spcPts val="400"/>
              </a:spcAft>
              <a:buNone/>
            </a:pPr>
            <a:r>
              <a:rPr lang="en-US" sz="1400" b="1" dirty="0">
                <a:solidFill>
                  <a:schemeClr val="tx1"/>
                </a:solidFill>
              </a:rPr>
              <a:t>Docente: </a:t>
            </a:r>
            <a:pPr indent="0" marL="0">
              <a:spcAft>
                <a:spcPts val="400"/>
              </a:spcAft>
              <a:buNone/>
            </a:pPr>
            <a:r>
              <a:rPr lang="en-US" sz="1400" dirty="0">
                <a:solidFill>
                  <a:schemeClr val="tx1"/>
                </a:solidFill>
              </a:rPr>
              <a:t>M.C.C. Eliezer Alcazar Silva</a:t>
            </a:r>
            <a:endParaRPr lang="en-US" sz="1400" dirty="0"/>
          </a:p>
          <a:p>
            <a:pPr indent="0" marL="0">
              <a:spcAft>
                <a:spcPts val="400"/>
              </a:spcAft>
              <a:buNone/>
            </a:pPr>
            <a:r>
              <a:rPr lang="en-US" sz="1400" b="1" dirty="0">
                <a:solidFill>
                  <a:schemeClr val="tx1"/>
                </a:solidFill>
              </a:rPr>
              <a:t>Región AWS: </a:t>
            </a:r>
            <a:pPr indent="0" marL="0">
              <a:spcAft>
                <a:spcPts val="400"/>
              </a:spcAft>
              <a:buNone/>
            </a:pPr>
            <a:r>
              <a:rPr lang="en-US" sz="1400" dirty="0">
                <a:solidFill>
                  <a:schemeClr val="tx1"/>
                </a:solidFill>
              </a:rPr>
              <a:t>us-east-2 (Ohio)</a:t>
            </a:r>
            <a:endParaRPr lang="en-US" sz="14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Antes y ahora</a:t>
            </a:r>
            <a:endParaRPr lang="en-US" sz="3600" dirty="0"/>
          </a:p>
        </p:txBody>
      </p:sp>
      <p:pic>
        <p:nvPicPr>
          <p:cNvPr id="3" name="onda-tr" descr="Decoración">    </p:cNvPr>
          <p:cNvPicPr>
            <a:picLocks noChangeAspect="1"/>
          </p:cNvPicPr>
          <p:nvPr/>
        </p:nvPicPr>
        <p:blipFill>
          <a:blip r:embed="rId1"/>
          <a:stretch>
            <a:fillRect/>
          </a:stretch>
        </p:blipFill>
        <p:spPr>
          <a:xfrm>
            <a:off x="10180015" y="0"/>
            <a:ext cx="2011680" cy="2011680"/>
          </a:xfrm>
          <a:prstGeom prst="rect">
            <a:avLst/>
          </a:prstGeom>
        </p:spPr>
      </p:pic>
      <p:sp>
        <p:nvSpPr>
          <p:cNvPr id="26" name="marco-arquitectura.png"/>
          <p:cNvSpPr/>
          <p:nvPr/>
        </p:nvSpPr>
        <p:spPr>
          <a:xfrm>
            <a:off x="2620391" y="1408176"/>
            <a:ext cx="6950913" cy="4672584"/>
          </a:xfrm>
          <a:prstGeom prst="rect">
            <a:avLst/>
          </a:prstGeom>
          <a:solidFill>
            <a:srgbClr val="FFFFFF"/>
          </a:solidFill>
          <a:ln w="19050">
            <a:solidFill>
              <a:schemeClr val="accent1"/>
            </a:solidFill>
          </a:ln>
        </p:spPr>
      </p:sp>
      <p:pic>
        <p:nvPicPr>
          <p:cNvPr id="27" name="img-arquitectura.png" descr="Arquitectura antes y ahora: el navegador coordinaba; ahora el evento de S3 dispara la procesadora"/>
          <p:cNvPicPr>
            <a:picLocks noChangeAspect="1"/>
          </p:cNvPicPr>
          <p:nvPr/>
        </p:nvPicPr>
        <p:blipFill>
          <a:blip r:embed="rId4"/>
          <a:stretch>
            <a:fillRect/>
          </a:stretch>
        </p:blipFill>
        <p:spPr>
          <a:xfrm>
            <a:off x="2693543" y="1481328"/>
            <a:ext cx="6804609" cy="4526280"/>
          </a:xfrm>
          <a:prstGeom prst="rect">
            <a:avLst/>
          </a:prstGeom>
        </p:spPr>
      </p:pic>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El viaje de una noticia</a:t>
            </a:r>
            <a:endParaRPr lang="en-US" sz="3600" dirty="0"/>
          </a:p>
        </p:txBody>
      </p:sp>
      <p:pic>
        <p:nvPicPr>
          <p:cNvPr id="3" name="onda-bl" descr="Decoración">    </p:cNvPr>
          <p:cNvPicPr>
            <a:picLocks noChangeAspect="1"/>
          </p:cNvPicPr>
          <p:nvPr/>
        </p:nvPicPr>
        <p:blipFill>
          <a:blip r:embed="rId1"/>
          <a:stretch>
            <a:fillRect/>
          </a:stretch>
        </p:blipFill>
        <p:spPr>
          <a:xfrm>
            <a:off x="0" y="4846320"/>
            <a:ext cx="2011680" cy="2011680"/>
          </a:xfrm>
          <a:prstGeom prst="rect">
            <a:avLst/>
          </a:prstGeom>
        </p:spPr>
      </p:pic>
      <p:sp>
        <p:nvSpPr>
          <p:cNvPr id="26" name="marco-secuencia.png"/>
          <p:cNvSpPr/>
          <p:nvPr/>
        </p:nvSpPr>
        <p:spPr>
          <a:xfrm>
            <a:off x="2343058" y="1408176"/>
            <a:ext cx="7505579" cy="4672584"/>
          </a:xfrm>
          <a:prstGeom prst="rect">
            <a:avLst/>
          </a:prstGeom>
          <a:solidFill>
            <a:srgbClr val="FFFFFF"/>
          </a:solidFill>
          <a:ln w="19050">
            <a:solidFill>
              <a:schemeClr val="accent1"/>
            </a:solidFill>
          </a:ln>
        </p:spPr>
      </p:sp>
      <p:pic>
        <p:nvPicPr>
          <p:cNvPr id="27" name="img-secuencia.png" descr="Diagrama de secuencia de una publicación con imagen"/>
          <p:cNvPicPr>
            <a:picLocks noChangeAspect="1"/>
          </p:cNvPicPr>
          <p:nvPr/>
        </p:nvPicPr>
        <p:blipFill>
          <a:blip r:embed="rId4"/>
          <a:stretch>
            <a:fillRect/>
          </a:stretch>
        </p:blipFill>
        <p:spPr>
          <a:xfrm>
            <a:off x="2416210" y="1481328"/>
            <a:ext cx="7359275" cy="4526280"/>
          </a:xfrm>
          <a:prstGeom prst="rect">
            <a:avLst/>
          </a:prstGeom>
        </p:spPr>
      </p:pic>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El disparador: S3 llama a Lambda</a:t>
            </a:r>
            <a:endParaRPr lang="en-US" sz="3600" dirty="0"/>
          </a:p>
        </p:txBody>
      </p:sp>
      <p:pic>
        <p:nvPicPr>
          <p:cNvPr id="3" name="onda-tr" descr="Decoración">    </p:cNvPr>
          <p:cNvPicPr>
            <a:picLocks noChangeAspect="1"/>
          </p:cNvPicPr>
          <p:nvPr/>
        </p:nvPicPr>
        <p:blipFill>
          <a:blip r:embed="rId1"/>
          <a:stretch>
            <a:fillRect/>
          </a:stretch>
        </p:blipFill>
        <p:spPr>
          <a:xfrm>
            <a:off x="10362895" y="0"/>
            <a:ext cx="1828800" cy="1828800"/>
          </a:xfrm>
          <a:prstGeom prst="rect">
            <a:avLst/>
          </a:prstGeom>
        </p:spPr>
      </p:pic>
      <p:sp>
        <p:nvSpPr>
          <p:cNvPr id="4" name="marco-trigger.png"/>
          <p:cNvSpPr/>
          <p:nvPr/>
        </p:nvSpPr>
        <p:spPr>
          <a:xfrm>
            <a:off x="722376" y="2675356"/>
            <a:ext cx="7059168" cy="2238807"/>
          </a:xfrm>
          <a:prstGeom prst="rect">
            <a:avLst/>
          </a:prstGeom>
          <a:solidFill>
            <a:schemeClr val="accent1"/>
          </a:solidFill>
          <a:ln/>
        </p:spPr>
      </p:sp>
      <p:pic>
        <p:nvPicPr>
          <p:cNvPr id="5" name="img-trigger.png" descr="Desencadenador S3 de la Lambda procesadora">    </p:cNvPr>
          <p:cNvPicPr>
            <a:picLocks noChangeAspect="1"/>
          </p:cNvPicPr>
          <p:nvPr/>
        </p:nvPicPr>
        <p:blipFill>
          <a:blip r:embed="rId2"/>
          <a:stretch>
            <a:fillRect/>
          </a:stretch>
        </p:blipFill>
        <p:spPr>
          <a:xfrm>
            <a:off x="777240" y="2730220"/>
            <a:ext cx="6949440" cy="2129079"/>
          </a:xfrm>
          <a:prstGeom prst="rect">
            <a:avLst/>
          </a:prstGeom>
        </p:spPr>
      </p:pic>
      <p:sp>
        <p:nvSpPr>
          <p:cNvPr id="6" name="texto"/>
          <p:cNvSpPr txBox="1"/>
          <p:nvPr/>
        </p:nvSpPr>
        <p:spPr>
          <a:xfrm>
            <a:off x="8092440" y="1828800"/>
            <a:ext cx="3291840" cy="3931920"/>
          </a:xfrm>
          <a:prstGeom prst="rect">
            <a:avLst/>
          </a:prstGeom>
          <a:noFill/>
          <a:ln/>
        </p:spPr>
        <p:txBody>
          <a:bodyPr wrap="square" lIns="0" tIns="0" rIns="0" bIns="0" rtlCol="0" anchor="t"/>
          <a:lstStyle/>
          <a:p>
            <a:pPr algn="l" marL="228600" indent="-228600">
              <a:lnSpc>
                <a:spcPct val="110000"/>
              </a:lnSpc>
              <a:spcAft>
                <a:spcPts val="1200"/>
              </a:spcAft>
              <a:buSzPct val="100000"/>
              <a:buChar char="•"/>
            </a:pPr>
            <a:r>
              <a:rPr lang="en-US" sz="1500" b="1" dirty="0">
                <a:solidFill>
                  <a:schemeClr val="tx1"/>
                </a:solidFill>
              </a:rPr>
              <a:t>Bucket: </a:t>
            </a:r>
            <a:pPr algn="l" indent="0" marL="0">
              <a:lnSpc>
                <a:spcPct val="110000"/>
              </a:lnSpc>
              <a:spcAft>
                <a:spcPts val="1200"/>
              </a:spcAft>
              <a:buNone/>
            </a:pPr>
            <a:r>
              <a:rPr lang="en-US" sz="1500" dirty="0">
                <a:solidFill>
                  <a:schemeClr val="tx1"/>
                </a:solidFill>
              </a:rPr>
              <a:t>mis-noticias-daniel-imagenes-906-2026</a:t>
            </a:r>
            <a:endParaRPr lang="en-US" sz="1500" dirty="0"/>
          </a:p>
          <a:p>
            <a:pPr algn="l" marL="228600" indent="-228600">
              <a:lnSpc>
                <a:spcPct val="110000"/>
              </a:lnSpc>
              <a:spcAft>
                <a:spcPts val="1200"/>
              </a:spcAft>
              <a:buSzPct val="100000"/>
              <a:buChar char="•"/>
            </a:pPr>
            <a:r>
              <a:rPr lang="en-US" sz="1500" b="1" dirty="0">
                <a:solidFill>
                  <a:schemeClr val="tx1"/>
                </a:solidFill>
              </a:rPr>
              <a:t>Evento: </a:t>
            </a:r>
            <a:pPr algn="l" indent="0" marL="0">
              <a:lnSpc>
                <a:spcPct val="110000"/>
              </a:lnSpc>
              <a:spcAft>
                <a:spcPts val="1200"/>
              </a:spcAft>
              <a:buNone/>
            </a:pPr>
            <a:r>
              <a:rPr lang="en-US" sz="1500" dirty="0">
                <a:solidFill>
                  <a:schemeClr val="tx1"/>
                </a:solidFill>
              </a:rPr>
              <a:t>s3:ObjectCreated:* (cualquier archivo nuevo)</a:t>
            </a:r>
            <a:endParaRPr lang="en-US" sz="1500" dirty="0"/>
          </a:p>
          <a:p>
            <a:pPr algn="l" marL="228600" indent="-228600">
              <a:lnSpc>
                <a:spcPct val="110000"/>
              </a:lnSpc>
              <a:spcAft>
                <a:spcPts val="1200"/>
              </a:spcAft>
              <a:buSzPct val="100000"/>
              <a:buChar char="•"/>
            </a:pPr>
            <a:r>
              <a:rPr lang="en-US" sz="1500" b="1" dirty="0">
                <a:solidFill>
                  <a:schemeClr val="tx1"/>
                </a:solidFill>
              </a:rPr>
              <a:t>Prefijo: </a:t>
            </a:r>
            <a:pPr algn="l" indent="0" marL="0">
              <a:lnSpc>
                <a:spcPct val="110000"/>
              </a:lnSpc>
              <a:spcAft>
                <a:spcPts val="1200"/>
              </a:spcAft>
              <a:buNone/>
            </a:pPr>
            <a:r>
              <a:rPr lang="en-US" sz="1500" dirty="0">
                <a:solidFill>
                  <a:schemeClr val="tx1"/>
                </a:solidFill>
              </a:rPr>
              <a:t>imagenes/ — solo las fotos activan la función</a:t>
            </a:r>
            <a:endParaRPr lang="en-US" sz="1500" dirty="0"/>
          </a:p>
          <a:p>
            <a:pPr algn="l" marL="228600" indent="-228600">
              <a:lnSpc>
                <a:spcPct val="110000"/>
              </a:lnSpc>
              <a:spcAft>
                <a:spcPts val="1200"/>
              </a:spcAft>
              <a:buSzPct val="100000"/>
              <a:buChar char="•"/>
            </a:pPr>
            <a:r>
              <a:rPr lang="en-US" sz="1500" b="1" dirty="0">
                <a:solidFill>
                  <a:schemeClr val="tx1"/>
                </a:solidFill>
              </a:rPr>
              <a:t>Sin ciclos: </a:t>
            </a:r>
            <a:pPr algn="l" indent="0" marL="0">
              <a:lnSpc>
                <a:spcPct val="110000"/>
              </a:lnSpc>
              <a:spcAft>
                <a:spcPts val="1200"/>
              </a:spcAft>
              <a:buNone/>
            </a:pPr>
            <a:r>
              <a:rPr lang="en-US" sz="1500" dirty="0">
                <a:solidFill>
                  <a:schemeClr val="tx1"/>
                </a:solidFill>
              </a:rPr>
              <a:t>la procesadora no escribe en S3, así que no se dispara a sí misma</a:t>
            </a:r>
            <a:endParaRPr lang="en-US" sz="15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Los logs cuentan la historia</a:t>
            </a:r>
            <a:endParaRPr lang="en-US" sz="3600" dirty="0"/>
          </a:p>
        </p:txBody>
      </p:sp>
      <p:pic>
        <p:nvPicPr>
          <p:cNvPr id="3" name="onda-bl" descr="Decoración">    </p:cNvPr>
          <p:cNvPicPr>
            <a:picLocks noChangeAspect="1"/>
          </p:cNvPicPr>
          <p:nvPr/>
        </p:nvPicPr>
        <p:blipFill>
          <a:blip r:embed="rId1"/>
          <a:stretch>
            <a:fillRect/>
          </a:stretch>
        </p:blipFill>
        <p:spPr>
          <a:xfrm>
            <a:off x="0" y="5029200"/>
            <a:ext cx="1828800" cy="1828800"/>
          </a:xfrm>
          <a:prstGeom prst="rect">
            <a:avLst/>
          </a:prstGeom>
        </p:spPr>
      </p:pic>
      <p:sp>
        <p:nvSpPr>
          <p:cNvPr id="4" name="marco-logs-p01.png"/>
          <p:cNvSpPr/>
          <p:nvPr/>
        </p:nvSpPr>
        <p:spPr>
          <a:xfrm>
            <a:off x="722376" y="1768870"/>
            <a:ext cx="10746943" cy="1948660"/>
          </a:xfrm>
          <a:prstGeom prst="rect">
            <a:avLst/>
          </a:prstGeom>
          <a:solidFill>
            <a:schemeClr val="accent1"/>
          </a:solidFill>
          <a:ln/>
        </p:spPr>
      </p:sp>
      <p:pic>
        <p:nvPicPr>
          <p:cNvPr id="5" name="img-logs-p01.png" descr="Logs de CloudWatch de la primera publicación">    </p:cNvPr>
          <p:cNvPicPr>
            <a:picLocks noChangeAspect="1"/>
          </p:cNvPicPr>
          <p:nvPr/>
        </p:nvPicPr>
        <p:blipFill>
          <a:blip r:embed="rId2"/>
          <a:stretch>
            <a:fillRect/>
          </a:stretch>
        </p:blipFill>
        <p:spPr>
          <a:xfrm>
            <a:off x="777240" y="1823734"/>
            <a:ext cx="10637215" cy="1838932"/>
          </a:xfrm>
          <a:prstGeom prst="rect">
            <a:avLst/>
          </a:prstGeom>
        </p:spPr>
      </p:pic>
      <p:sp>
        <p:nvSpPr>
          <p:cNvPr id="6" name="pie-imagen"/>
          <p:cNvSpPr txBox="1"/>
          <p:nvPr/>
        </p:nvSpPr>
        <p:spPr>
          <a:xfrm>
            <a:off x="777240" y="3772394"/>
            <a:ext cx="7315200" cy="365760"/>
          </a:xfrm>
          <a:prstGeom prst="rect">
            <a:avLst/>
          </a:prstGeom>
          <a:noFill/>
          <a:ln/>
        </p:spPr>
        <p:txBody>
          <a:bodyPr wrap="square" lIns="0" tIns="0" rIns="0" bIns="0" rtlCol="0" anchor="t"/>
          <a:lstStyle/>
          <a:p>
            <a:pPr indent="0" marL="0">
              <a:buNone/>
            </a:pPr>
            <a:r>
              <a:rPr lang="en-US" sz="1200" i="1" dirty="0">
                <a:solidFill>
                  <a:schemeClr val="accent6"/>
                </a:solidFill>
              </a:rPr>
              <a:t>CloudWatch · /aws/lambda/procesar-imagen-noticia · primera publicación (27 oct.)</a:t>
            </a:r>
            <a:endParaRPr lang="en-US" sz="1200" dirty="0"/>
          </a:p>
        </p:txBody>
      </p:sp>
      <p:sp>
        <p:nvSpPr>
          <p:cNvPr id="7" name="etapa-inicio"/>
          <p:cNvSpPr txBox="1"/>
          <p:nvPr/>
        </p:nvSpPr>
        <p:spPr>
          <a:xfrm>
            <a:off x="868680" y="4572000"/>
            <a:ext cx="2377440" cy="960120"/>
          </a:xfrm>
          <a:prstGeom prst="roundRect">
            <a:avLst>
              <a:gd name="adj" fmla="val 11429"/>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inicio</a:t>
            </a:r>
            <a:endParaRPr lang="en-US" sz="2000" dirty="0"/>
          </a:p>
          <a:p>
            <a:pPr algn="ctr" indent="0" marL="0">
              <a:buNone/>
            </a:pPr>
            <a:r>
              <a:rPr lang="en-US" sz="1300" dirty="0">
                <a:solidFill>
                  <a:schemeClr val="bg1"/>
                </a:solidFill>
              </a:rPr>
              <a:t>llegó el evento de S3</a:t>
            </a:r>
            <a:endParaRPr lang="en-US" sz="2000" dirty="0"/>
          </a:p>
        </p:txBody>
      </p:sp>
      <p:sp>
        <p:nvSpPr>
          <p:cNvPr id="8" name="etapa-flecha-0"/>
          <p:cNvSpPr/>
          <p:nvPr/>
        </p:nvSpPr>
        <p:spPr>
          <a:xfrm>
            <a:off x="3246120" y="5047488"/>
            <a:ext cx="502920" cy="914"/>
          </a:xfrm>
          <a:prstGeom prst="line">
            <a:avLst/>
          </a:prstGeom>
          <a:noFill/>
          <a:ln w="25400">
            <a:solidFill>
              <a:schemeClr val="tx2"/>
            </a:solidFill>
            <a:prstDash val="solid"/>
            <a:tailEnd type="triangle"/>
          </a:ln>
        </p:spPr>
      </p:sp>
      <p:sp>
        <p:nvSpPr>
          <p:cNvPr id="9" name="etapa-validado"/>
          <p:cNvSpPr txBox="1"/>
          <p:nvPr/>
        </p:nvSpPr>
        <p:spPr>
          <a:xfrm>
            <a:off x="3749040" y="4572000"/>
            <a:ext cx="2377440" cy="960120"/>
          </a:xfrm>
          <a:prstGeom prst="roundRect">
            <a:avLst>
              <a:gd name="adj" fmla="val 11429"/>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validado</a:t>
            </a:r>
            <a:endParaRPr lang="en-US" sz="2000" dirty="0"/>
          </a:p>
          <a:p>
            <a:pPr algn="ctr" indent="0" marL="0">
              <a:buNone/>
            </a:pPr>
            <a:r>
              <a:rPr lang="en-US" sz="1300" dirty="0">
                <a:solidFill>
                  <a:schemeClr val="bg1"/>
                </a:solidFill>
              </a:rPr>
              <a:t>datos completos y correctos</a:t>
            </a:r>
            <a:endParaRPr lang="en-US" sz="2000" dirty="0"/>
          </a:p>
        </p:txBody>
      </p:sp>
      <p:sp>
        <p:nvSpPr>
          <p:cNvPr id="10" name="etapa-flecha-1"/>
          <p:cNvSpPr/>
          <p:nvPr/>
        </p:nvSpPr>
        <p:spPr>
          <a:xfrm>
            <a:off x="6126480" y="5047488"/>
            <a:ext cx="502920" cy="914"/>
          </a:xfrm>
          <a:prstGeom prst="line">
            <a:avLst/>
          </a:prstGeom>
          <a:noFill/>
          <a:ln w="25400">
            <a:solidFill>
              <a:schemeClr val="tx2"/>
            </a:solidFill>
            <a:prstDash val="solid"/>
            <a:tailEnd type="triangle"/>
          </a:ln>
        </p:spPr>
      </p:sp>
      <p:sp>
        <p:nvSpPr>
          <p:cNvPr id="11" name="etapa-guardado"/>
          <p:cNvSpPr txBox="1"/>
          <p:nvPr/>
        </p:nvSpPr>
        <p:spPr>
          <a:xfrm>
            <a:off x="6629400" y="4572000"/>
            <a:ext cx="2377440" cy="960120"/>
          </a:xfrm>
          <a:prstGeom prst="roundRect">
            <a:avLst>
              <a:gd name="adj" fmla="val 11429"/>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guardado</a:t>
            </a:r>
            <a:endParaRPr lang="en-US" sz="2000" dirty="0"/>
          </a:p>
          <a:p>
            <a:pPr algn="ctr" indent="0" marL="0">
              <a:buNone/>
            </a:pPr>
            <a:r>
              <a:rPr lang="en-US" sz="1300" dirty="0">
                <a:solidFill>
                  <a:schemeClr val="bg1"/>
                </a:solidFill>
              </a:rPr>
              <a:t>noticia en DynamoDB</a:t>
            </a:r>
            <a:endParaRPr lang="en-US" sz="2000" dirty="0"/>
          </a:p>
        </p:txBody>
      </p:sp>
      <p:sp>
        <p:nvSpPr>
          <p:cNvPr id="12" name="duracion"/>
          <p:cNvSpPr txBox="1"/>
          <p:nvPr/>
        </p:nvSpPr>
        <p:spPr>
          <a:xfrm>
            <a:off x="9281160" y="4572000"/>
            <a:ext cx="2103120" cy="960120"/>
          </a:xfrm>
          <a:prstGeom prst="rect">
            <a:avLst/>
          </a:prstGeom>
          <a:noFill/>
          <a:ln/>
        </p:spPr>
        <p:txBody>
          <a:bodyPr wrap="square" lIns="0" tIns="0" rIns="0" bIns="0" rtlCol="0" anchor="ctr"/>
          <a:lstStyle/>
          <a:p>
            <a:pPr algn="ctr" indent="0" marL="0">
              <a:buNone/>
            </a:pPr>
            <a:r>
              <a:rPr lang="en-US" sz="2600" b="1" dirty="0">
                <a:solidFill>
                  <a:schemeClr val="accent1"/>
                </a:solidFill>
              </a:rPr>
              <a:t>1,56 s</a:t>
            </a:r>
            <a:endParaRPr lang="en-US" sz="2600" dirty="0"/>
          </a:p>
          <a:p>
            <a:pPr algn="ctr" indent="0" marL="0">
              <a:buNone/>
            </a:pPr>
            <a:r>
              <a:rPr lang="en-US" sz="1200" dirty="0">
                <a:solidFill>
                  <a:schemeClr val="tx1"/>
                </a:solidFill>
              </a:rPr>
              <a:t>de principio a fin</a:t>
            </a:r>
            <a:endParaRPr lang="en-US" sz="26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La noticia llegó sola</a:t>
            </a:r>
            <a:endParaRPr lang="en-US" sz="3600" dirty="0"/>
          </a:p>
        </p:txBody>
      </p:sp>
      <p:pic>
        <p:nvPicPr>
          <p:cNvPr id="3" name="onda-tr" descr="Decoración">    </p:cNvPr>
          <p:cNvPicPr>
            <a:picLocks noChangeAspect="1"/>
          </p:cNvPicPr>
          <p:nvPr/>
        </p:nvPicPr>
        <p:blipFill>
          <a:blip r:embed="rId1"/>
          <a:stretch>
            <a:fillRect/>
          </a:stretch>
        </p:blipFill>
        <p:spPr>
          <a:xfrm>
            <a:off x="10362895" y="0"/>
            <a:ext cx="1828800" cy="1828800"/>
          </a:xfrm>
          <a:prstGeom prst="rect">
            <a:avLst/>
          </a:prstGeom>
        </p:spPr>
      </p:pic>
      <p:sp>
        <p:nvSpPr>
          <p:cNvPr id="4" name="marco-item-p02.png"/>
          <p:cNvSpPr/>
          <p:nvPr/>
        </p:nvSpPr>
        <p:spPr>
          <a:xfrm>
            <a:off x="722376" y="2310924"/>
            <a:ext cx="6419088" cy="3104833"/>
          </a:xfrm>
          <a:prstGeom prst="rect">
            <a:avLst/>
          </a:prstGeom>
          <a:solidFill>
            <a:schemeClr val="accent1"/>
          </a:solidFill>
          <a:ln/>
        </p:spPr>
      </p:sp>
      <p:pic>
        <p:nvPicPr>
          <p:cNvPr id="5" name="img-item-p02.png" descr="Elemento en DynamoDB con origen s3-evento">    </p:cNvPr>
          <p:cNvPicPr>
            <a:picLocks noChangeAspect="1"/>
          </p:cNvPicPr>
          <p:nvPr/>
        </p:nvPicPr>
        <p:blipFill>
          <a:blip r:embed="rId2"/>
          <a:stretch>
            <a:fillRect/>
          </a:stretch>
        </p:blipFill>
        <p:spPr>
          <a:xfrm>
            <a:off x="777240" y="2365788"/>
            <a:ext cx="6309360" cy="2995105"/>
          </a:xfrm>
          <a:prstGeom prst="rect">
            <a:avLst/>
          </a:prstGeom>
        </p:spPr>
      </p:pic>
      <p:sp>
        <p:nvSpPr>
          <p:cNvPr id="6" name="etiqueta-p01"/>
          <p:cNvSpPr txBox="1"/>
          <p:nvPr/>
        </p:nvSpPr>
        <p:spPr>
          <a:xfrm>
            <a:off x="7589520" y="1828800"/>
            <a:ext cx="2011680" cy="384048"/>
          </a:xfrm>
          <a:prstGeom prst="roundRect">
            <a:avLst>
              <a:gd name="adj" fmla="val 47619"/>
            </a:avLst>
          </a:prstGeom>
          <a:solidFill>
            <a:schemeClr val="accent5"/>
          </a:solidFill>
          <a:ln/>
        </p:spPr>
        <p:txBody>
          <a:bodyPr wrap="square" lIns="0" tIns="0" rIns="0" bIns="0" rtlCol="0" anchor="ctr"/>
          <a:lstStyle/>
          <a:p>
            <a:pPr algn="ctr" indent="0" marL="0">
              <a:buNone/>
            </a:pPr>
            <a:r>
              <a:rPr lang="en-US" sz="1400" b="1" dirty="0">
                <a:solidFill>
                  <a:schemeClr val="bg1"/>
                </a:solidFill>
              </a:rPr>
              <a:t>Publicada ✓</a:t>
            </a:r>
            <a:endParaRPr lang="en-US" sz="1400" dirty="0"/>
          </a:p>
        </p:txBody>
      </p:sp>
      <p:sp>
        <p:nvSpPr>
          <p:cNvPr id="7" name="texto"/>
          <p:cNvSpPr txBox="1"/>
          <p:nvPr/>
        </p:nvSpPr>
        <p:spPr>
          <a:xfrm>
            <a:off x="7589520" y="2514600"/>
            <a:ext cx="3794760" cy="3474720"/>
          </a:xfrm>
          <a:prstGeom prst="rect">
            <a:avLst/>
          </a:prstGeom>
          <a:noFill/>
          <a:ln/>
        </p:spPr>
        <p:txBody>
          <a:bodyPr wrap="square" lIns="0" tIns="0" rIns="0" bIns="0" rtlCol="0" anchor="t"/>
          <a:lstStyle/>
          <a:p>
            <a:pPr algn="l" indent="0" marL="0">
              <a:lnSpc>
                <a:spcPct val="110000"/>
              </a:lnSpc>
              <a:spcAft>
                <a:spcPts val="1400"/>
              </a:spcAft>
              <a:buNone/>
            </a:pPr>
            <a:r>
              <a:rPr lang="en-US" sz="1600" dirty="0">
                <a:solidFill>
                  <a:schemeClr val="tx1"/>
                </a:solidFill>
              </a:rPr>
              <a:t>La noticia de prueba quedó en la tabla </a:t>
            </a:r>
            <a:pPr algn="l" indent="0" marL="0">
              <a:lnSpc>
                <a:spcPct val="110000"/>
              </a:lnSpc>
              <a:spcAft>
                <a:spcPts val="1400"/>
              </a:spcAft>
              <a:buNone/>
            </a:pPr>
            <a:r>
              <a:rPr lang="en-US" sz="1600" b="1" dirty="0">
                <a:solidFill>
                  <a:schemeClr val="tx1"/>
                </a:solidFill>
              </a:rPr>
              <a:t>noticias</a:t>
            </a:r>
            <a:pPr algn="l" indent="0" marL="0">
              <a:lnSpc>
                <a:spcPct val="110000"/>
              </a:lnSpc>
              <a:spcAft>
                <a:spcPts val="1400"/>
              </a:spcAft>
              <a:buNone/>
            </a:pPr>
            <a:r>
              <a:rPr lang="en-US" sz="1600" dirty="0">
                <a:solidFill>
                  <a:schemeClr val="tx1"/>
                </a:solidFill>
              </a:rPr>
              <a:t> con el campo </a:t>
            </a:r>
            <a:pPr algn="l" indent="0" marL="0">
              <a:lnSpc>
                <a:spcPct val="110000"/>
              </a:lnSpc>
              <a:spcAft>
                <a:spcPts val="1400"/>
              </a:spcAft>
              <a:buNone/>
            </a:pPr>
            <a:r>
              <a:rPr lang="en-US" sz="1600" b="1" dirty="0">
                <a:solidFill>
                  <a:schemeClr val="accent4"/>
                </a:solidFill>
              </a:rPr>
              <a:t>origen = s3-evento</a:t>
            </a:r>
            <a:pPr algn="l" indent="0" marL="0">
              <a:lnSpc>
                <a:spcPct val="110000"/>
              </a:lnSpc>
              <a:spcAft>
                <a:spcPts val="1400"/>
              </a:spcAft>
              <a:buNone/>
            </a:pPr>
            <a:r>
              <a:rPr lang="en-US" sz="1600" dirty="0">
                <a:solidFill>
                  <a:schemeClr val="tx1"/>
                </a:solidFill>
              </a:rPr>
              <a:t>: la guardó la procesadora, no el navegador.</a:t>
            </a:r>
            <a:endParaRPr lang="en-US" sz="1600" dirty="0"/>
          </a:p>
          <a:p>
            <a:pPr algn="l" indent="0" marL="0">
              <a:lnSpc>
                <a:spcPct val="110000"/>
              </a:lnSpc>
              <a:spcAft>
                <a:spcPts val="1400"/>
              </a:spcAft>
              <a:buNone/>
            </a:pPr>
            <a:r>
              <a:rPr lang="en-US" sz="1600" dirty="0">
                <a:solidFill>
                  <a:schemeClr val="tx1"/>
                </a:solidFill>
              </a:rPr>
              <a:t>En el tráfico de red solo aparecieron la petición a prefirmadas, la subida a S3 y la consulta de estado. </a:t>
            </a:r>
            <a:pPr algn="l" indent="0" marL="0">
              <a:lnSpc>
                <a:spcPct val="110000"/>
              </a:lnSpc>
              <a:spcAft>
                <a:spcPts val="1400"/>
              </a:spcAft>
              <a:buNone/>
            </a:pPr>
            <a:r>
              <a:rPr lang="en-US" sz="1600" b="1" dirty="0">
                <a:solidFill>
                  <a:schemeClr val="tx1"/>
                </a:solidFill>
              </a:rPr>
              <a:t>Ninguna llamada a agregarNoticia.</a:t>
            </a:r>
            <a:endParaRPr lang="en-US" sz="1600" dirty="0"/>
          </a:p>
          <a:p>
            <a:pPr algn="l" indent="0" marL="0">
              <a:lnSpc>
                <a:spcPct val="110000"/>
              </a:lnSpc>
              <a:spcAft>
                <a:spcPts val="1400"/>
              </a:spcAft>
              <a:buNone/>
            </a:pPr>
            <a:r>
              <a:rPr lang="en-US" sz="1600" dirty="0">
                <a:solidFill>
                  <a:schemeClr val="tx1"/>
                </a:solidFill>
              </a:rPr>
              <a:t>Al recargar el sitio, la noticia se ve con su imagen.</a:t>
            </a:r>
            <a:endParaRPr lang="en-US" sz="16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Provocamos errores a propósito</a:t>
            </a:r>
            <a:endParaRPr lang="en-US" sz="3600" dirty="0"/>
          </a:p>
        </p:txBody>
      </p:sp>
      <p:pic>
        <p:nvPicPr>
          <p:cNvPr id="3" name="onda-br" descr="Decoración">    </p:cNvPr>
          <p:cNvPicPr>
            <a:picLocks noChangeAspect="1"/>
          </p:cNvPicPr>
          <p:nvPr/>
        </p:nvPicPr>
        <p:blipFill>
          <a:blip r:embed="rId1"/>
          <a:stretch>
            <a:fillRect/>
          </a:stretch>
        </p:blipFill>
        <p:spPr>
          <a:xfrm>
            <a:off x="10180015" y="4846320"/>
            <a:ext cx="2011680" cy="2011680"/>
          </a:xfrm>
          <a:prstGeom prst="rect">
            <a:avLst/>
          </a:prstGeom>
        </p:spPr>
      </p:pic>
      <p:sp>
        <p:nvSpPr>
          <p:cNvPr id="4" name="subtitulo"/>
          <p:cNvSpPr txBox="1"/>
          <p:nvPr/>
        </p:nvSpPr>
        <p:spPr>
          <a:xfrm>
            <a:off x="777240" y="1371600"/>
            <a:ext cx="9144000" cy="411480"/>
          </a:xfrm>
          <a:prstGeom prst="rect">
            <a:avLst/>
          </a:prstGeom>
          <a:noFill/>
          <a:ln/>
        </p:spPr>
        <p:txBody>
          <a:bodyPr wrap="square" lIns="0" tIns="0" rIns="0" bIns="0" rtlCol="0" anchor="ctr"/>
          <a:lstStyle/>
          <a:p>
            <a:pPr indent="0" marL="0">
              <a:buNone/>
            </a:pPr>
            <a:r>
              <a:rPr lang="en-US" sz="1600" dirty="0">
                <a:solidFill>
                  <a:schemeClr val="tx2"/>
                </a:solidFill>
              </a:rPr>
              <a:t>Tres situaciones que pide la rúbrica, y qué hace el sistema en cada una</a:t>
            </a:r>
            <a:endParaRPr lang="en-US" sz="1600" dirty="0"/>
          </a:p>
        </p:txBody>
      </p:sp>
      <p:sp>
        <p:nvSpPr>
          <p:cNvPr id="6" name="num-1"/>
          <p:cNvSpPr txBox="1"/>
          <p:nvPr/>
        </p:nvSpPr>
        <p:spPr>
          <a:xfrm>
            <a:off x="6484328" y="1965960"/>
            <a:ext cx="457200" cy="457200"/>
          </a:xfrm>
          <a:prstGeom prst="rect">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400" dirty="0"/>
          </a:p>
        </p:txBody>
      </p:sp>
      <p:sp>
        <p:nvSpPr>
          <p:cNvPr id="7" name="caso-1-titulo"/>
          <p:cNvSpPr txBox="1"/>
          <p:nvPr/>
        </p:nvSpPr>
        <p:spPr>
          <a:xfrm>
            <a:off x="7124408" y="1965960"/>
            <a:ext cx="4259872" cy="457200"/>
          </a:xfrm>
          <a:prstGeom prst="rect">
            <a:avLst/>
          </a:prstGeom>
          <a:noFill/>
          <a:ln/>
        </p:spPr>
        <p:txBody>
          <a:bodyPr wrap="square" lIns="0" tIns="0" rIns="0" bIns="0" rtlCol="0" anchor="ctr"/>
          <a:lstStyle/>
          <a:p>
            <a:pPr indent="0" marL="0">
              <a:buNone/>
            </a:pPr>
            <a:r>
              <a:rPr lang="en-US" sz="1700" b="1" dirty="0">
                <a:solidFill>
                  <a:schemeClr val="tx1"/>
                </a:solidFill>
              </a:rPr>
              <a:t>Carga fallida</a:t>
            </a:r>
            <a:endParaRPr lang="en-US" sz="1900" dirty="0"/>
          </a:p>
        </p:txBody>
      </p:sp>
      <p:sp>
        <p:nvSpPr>
          <p:cNvPr id="9" name="caso-1-texto"/>
          <p:cNvSpPr txBox="1"/>
          <p:nvPr/>
        </p:nvSpPr>
        <p:spPr>
          <a:xfrm>
            <a:off x="7124408" y="2468880"/>
            <a:ext cx="4259872" cy="77724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No hay evento, así que no se guarda nada a medias. La web muestra el error y el usuario reintenta con el mismo id, sin duplicar.</a:t>
            </a:r>
            <a:endParaRPr lang="en-US" sz="1400" dirty="0"/>
          </a:p>
        </p:txBody>
      </p:sp>
      <p:sp>
        <p:nvSpPr>
          <p:cNvPr id="11" name="num-2"/>
          <p:cNvSpPr txBox="1"/>
          <p:nvPr/>
        </p:nvSpPr>
        <p:spPr>
          <a:xfrm>
            <a:off x="6484328" y="3310128"/>
            <a:ext cx="457200" cy="457200"/>
          </a:xfrm>
          <a:prstGeom prst="rect">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400" dirty="0"/>
          </a:p>
        </p:txBody>
      </p:sp>
      <p:sp>
        <p:nvSpPr>
          <p:cNvPr id="12" name="caso-2-titulo"/>
          <p:cNvSpPr txBox="1"/>
          <p:nvPr/>
        </p:nvSpPr>
        <p:spPr>
          <a:xfrm>
            <a:off x="7124408" y="3310128"/>
            <a:ext cx="4259872" cy="457200"/>
          </a:xfrm>
          <a:prstGeom prst="rect">
            <a:avLst/>
          </a:prstGeom>
          <a:noFill/>
          <a:ln/>
        </p:spPr>
        <p:txBody>
          <a:bodyPr wrap="square" lIns="0" tIns="0" rIns="0" bIns="0" rtlCol="0" anchor="ctr"/>
          <a:lstStyle/>
          <a:p>
            <a:pPr indent="0" marL="0">
              <a:buNone/>
            </a:pPr>
            <a:r>
              <a:rPr lang="en-US" sz="1700" b="1" dirty="0">
                <a:solidFill>
                  <a:schemeClr val="tx1"/>
                </a:solidFill>
              </a:rPr>
              <a:t>Imagen sin metadatos</a:t>
            </a:r>
            <a:endParaRPr lang="en-US" sz="1900" dirty="0"/>
          </a:p>
        </p:txBody>
      </p:sp>
      <p:sp>
        <p:nvSpPr>
          <p:cNvPr id="14" name="caso-2-texto"/>
          <p:cNvSpPr txBox="1"/>
          <p:nvPr/>
        </p:nvSpPr>
        <p:spPr>
          <a:xfrm>
            <a:off x="7124408" y="3813048"/>
            <a:ext cx="4259872" cy="77724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Error terminal: se registra validacion_fallida y no se reintenta, porque repetir no lo arregla. No se crea noticia.</a:t>
            </a:r>
            <a:endParaRPr lang="en-US" sz="1400" dirty="0"/>
          </a:p>
        </p:txBody>
      </p:sp>
      <p:sp>
        <p:nvSpPr>
          <p:cNvPr id="16" name="num-3"/>
          <p:cNvSpPr txBox="1"/>
          <p:nvPr/>
        </p:nvSpPr>
        <p:spPr>
          <a:xfrm>
            <a:off x="6484328" y="4654296"/>
            <a:ext cx="457200" cy="457200"/>
          </a:xfrm>
          <a:prstGeom prst="rect">
            <a:avLst/>
          </a:prstGeom>
          <a:solidFill>
            <a:schemeClr val="accent4"/>
          </a:solidFill>
          <a:ln/>
        </p:spPr>
        <p:txBody>
          <a:bodyPr wrap="square" lIns="0" tIns="0" rIns="0" bIns="0" rtlCol="0" anchor="ctr"/>
          <a:lstStyle/>
          <a:p>
            <a:pPr algn="ctr" indent="0" marL="0">
              <a:buNone/>
            </a:pPr>
            <a:r>
              <a:rPr lang="en-US" sz="2000" b="1" dirty="0">
                <a:solidFill>
                  <a:schemeClr val="bg1"/>
                </a:solidFill>
              </a:rPr>
              <a:t>3</a:t>
            </a:r>
            <a:endParaRPr lang="en-US" sz="2400" dirty="0"/>
          </a:p>
        </p:txBody>
      </p:sp>
      <p:sp>
        <p:nvSpPr>
          <p:cNvPr id="17" name="caso-3-titulo"/>
          <p:cNvSpPr txBox="1"/>
          <p:nvPr/>
        </p:nvSpPr>
        <p:spPr>
          <a:xfrm>
            <a:off x="7124408" y="4654296"/>
            <a:ext cx="4259872" cy="457200"/>
          </a:xfrm>
          <a:prstGeom prst="rect">
            <a:avLst/>
          </a:prstGeom>
          <a:noFill/>
          <a:ln/>
        </p:spPr>
        <p:txBody>
          <a:bodyPr wrap="square" lIns="0" tIns="0" rIns="0" bIns="0" rtlCol="0" anchor="ctr"/>
          <a:lstStyle/>
          <a:p>
            <a:pPr indent="0" marL="0">
              <a:buNone/>
            </a:pPr>
            <a:r>
              <a:rPr lang="en-US" sz="1700" b="1" dirty="0">
                <a:solidFill>
                  <a:schemeClr val="tx1"/>
                </a:solidFill>
              </a:rPr>
              <a:t>Falla DynamoDB</a:t>
            </a:r>
            <a:endParaRPr lang="en-US" sz="1900" dirty="0"/>
          </a:p>
        </p:txBody>
      </p:sp>
      <p:sp>
        <p:nvSpPr>
          <p:cNvPr id="19" name="caso-3-texto"/>
          <p:cNvSpPr txBox="1"/>
          <p:nvPr/>
        </p:nvSpPr>
        <p:spPr>
          <a:xfrm>
            <a:off x="7124408" y="5157216"/>
            <a:ext cx="4259872" cy="777240"/>
          </a:xfrm>
          <a:prstGeom prst="rect">
            <a:avLst/>
          </a:prstGeom>
          <a:noFill/>
          <a:ln/>
        </p:spPr>
        <p:txBody>
          <a:bodyPr wrap="square" lIns="0" tIns="0" rIns="0" bIns="0" rtlCol="0" anchor="t"/>
          <a:lstStyle/>
          <a:p>
            <a:pPr indent="0" marL="0">
              <a:lnSpc>
                <a:spcPct val="112000"/>
              </a:lnSpc>
              <a:buNone/>
            </a:pPr>
            <a:r>
              <a:rPr lang="en-US" sz="1400" dirty="0">
                <a:solidFill>
                  <a:schemeClr val="tx1"/>
                </a:solidFill>
              </a:rPr>
              <a:t>La función relanza el error: sube la métrica Errors, Lambda reintenta 2 veces y la alarma se enciende. Al corregir, se recupera.</a:t>
            </a:r>
            <a:endParaRPr lang="en-US" sz="1400" dirty="0"/>
          </a:p>
        </p:txBody>
      </p:sp>
      <p:sp>
        <p:nvSpPr>
          <p:cNvPr id="26" name="marco-errores.png"/>
          <p:cNvSpPr/>
          <p:nvPr/>
        </p:nvSpPr>
        <p:spPr>
          <a:xfrm>
            <a:off x="777240" y="1892808"/>
            <a:ext cx="5277320" cy="4078224"/>
          </a:xfrm>
          <a:prstGeom prst="rect">
            <a:avLst/>
          </a:prstGeom>
          <a:solidFill>
            <a:srgbClr val="FFFFFF"/>
          </a:solidFill>
          <a:ln w="19050">
            <a:solidFill>
              <a:schemeClr val="accent1"/>
            </a:solidFill>
          </a:ln>
        </p:spPr>
      </p:sp>
      <p:pic>
        <p:nvPicPr>
          <p:cNvPr id="27" name="img-errores.png" descr="Decisiones de la procesadora ante cada evento"/>
          <p:cNvPicPr>
            <a:picLocks noChangeAspect="1"/>
          </p:cNvPicPr>
          <p:nvPr/>
        </p:nvPicPr>
        <p:blipFill>
          <a:blip r:embed="rId4"/>
          <a:stretch>
            <a:fillRect/>
          </a:stretch>
        </p:blipFill>
        <p:spPr>
          <a:xfrm>
            <a:off x="850392" y="1965960"/>
            <a:ext cx="5131016" cy="3931920"/>
          </a:xfrm>
          <a:prstGeom prst="rect">
            <a:avLst/>
          </a:prstGeom>
        </p:spPr>
      </p:pic>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Imagen sin datos: se descarta</a:t>
            </a:r>
            <a:endParaRPr lang="en-US" sz="3600" dirty="0"/>
          </a:p>
        </p:txBody>
      </p:sp>
      <p:pic>
        <p:nvPicPr>
          <p:cNvPr id="3" name="onda-tr" descr="Decoración">    </p:cNvPr>
          <p:cNvPicPr>
            <a:picLocks noChangeAspect="1"/>
          </p:cNvPicPr>
          <p:nvPr/>
        </p:nvPicPr>
        <p:blipFill>
          <a:blip r:embed="rId1"/>
          <a:stretch>
            <a:fillRect/>
          </a:stretch>
        </p:blipFill>
        <p:spPr>
          <a:xfrm>
            <a:off x="10454335" y="0"/>
            <a:ext cx="1737360" cy="1737360"/>
          </a:xfrm>
          <a:prstGeom prst="rect">
            <a:avLst/>
          </a:prstGeom>
        </p:spPr>
      </p:pic>
      <p:sp>
        <p:nvSpPr>
          <p:cNvPr id="4" name="marco-p03.png"/>
          <p:cNvSpPr/>
          <p:nvPr/>
        </p:nvSpPr>
        <p:spPr>
          <a:xfrm>
            <a:off x="722376" y="2165274"/>
            <a:ext cx="7333488" cy="3396132"/>
          </a:xfrm>
          <a:prstGeom prst="rect">
            <a:avLst/>
          </a:prstGeom>
          <a:solidFill>
            <a:schemeClr val="accent1"/>
          </a:solidFill>
          <a:ln/>
        </p:spPr>
      </p:sp>
      <p:pic>
        <p:nvPicPr>
          <p:cNvPr id="5" name="img-p03.png" descr="Imagen sin datos: validacion_fallida">    </p:cNvPr>
          <p:cNvPicPr>
            <a:picLocks noChangeAspect="1"/>
          </p:cNvPicPr>
          <p:nvPr/>
        </p:nvPicPr>
        <p:blipFill>
          <a:blip r:embed="rId2"/>
          <a:stretch>
            <a:fillRect/>
          </a:stretch>
        </p:blipFill>
        <p:spPr>
          <a:xfrm>
            <a:off x="777240" y="2220138"/>
            <a:ext cx="7223760" cy="3286404"/>
          </a:xfrm>
          <a:prstGeom prst="rect">
            <a:avLst/>
          </a:prstGeom>
        </p:spPr>
      </p:pic>
      <p:sp>
        <p:nvSpPr>
          <p:cNvPr id="6" name="etiqueta-p03"/>
          <p:cNvSpPr txBox="1"/>
          <p:nvPr/>
        </p:nvSpPr>
        <p:spPr>
          <a:xfrm>
            <a:off x="8366760" y="1828800"/>
            <a:ext cx="1828800" cy="384048"/>
          </a:xfrm>
          <a:prstGeom prst="roundRect">
            <a:avLst>
              <a:gd name="adj" fmla="val 47619"/>
            </a:avLst>
          </a:prstGeom>
          <a:solidFill>
            <a:schemeClr val="accent5"/>
          </a:solidFill>
          <a:ln/>
        </p:spPr>
        <p:txBody>
          <a:bodyPr wrap="square" lIns="0" tIns="0" rIns="0" bIns="0" rtlCol="0" anchor="ctr"/>
          <a:lstStyle/>
          <a:p>
            <a:pPr algn="ctr" indent="0" marL="0">
              <a:buNone/>
            </a:pPr>
            <a:r>
              <a:rPr lang="en-US" sz="1400" b="1" dirty="0">
                <a:solidFill>
                  <a:schemeClr val="bg1"/>
                </a:solidFill>
              </a:rPr>
              <a:t>Descartada ✓</a:t>
            </a:r>
            <a:endParaRPr lang="en-US" sz="1400" dirty="0"/>
          </a:p>
        </p:txBody>
      </p:sp>
      <p:sp>
        <p:nvSpPr>
          <p:cNvPr id="7" name="texto"/>
          <p:cNvSpPr txBox="1"/>
          <p:nvPr/>
        </p:nvSpPr>
        <p:spPr>
          <a:xfrm>
            <a:off x="8366760" y="2514600"/>
            <a:ext cx="3017520" cy="3566160"/>
          </a:xfrm>
          <a:prstGeom prst="rect">
            <a:avLst/>
          </a:prstGeom>
          <a:noFill/>
          <a:ln/>
        </p:spPr>
        <p:txBody>
          <a:bodyPr wrap="square" lIns="0" tIns="0" rIns="0" bIns="0" rtlCol="0" anchor="t"/>
          <a:lstStyle/>
          <a:p>
            <a:pPr algn="l" indent="0" marL="0">
              <a:lnSpc>
                <a:spcPct val="110000"/>
              </a:lnSpc>
              <a:spcAft>
                <a:spcPts val="1200"/>
              </a:spcAft>
              <a:buNone/>
            </a:pPr>
            <a:r>
              <a:rPr lang="en-US" sz="1500" dirty="0">
                <a:solidFill>
                  <a:schemeClr val="tx1"/>
                </a:solidFill>
              </a:rPr>
              <a:t>Enviamos un evento de una imagen cuyo pendiente no existe.</a:t>
            </a:r>
            <a:endParaRPr lang="en-US" sz="1500" dirty="0"/>
          </a:p>
          <a:p>
            <a:pPr algn="l" indent="0" marL="0">
              <a:lnSpc>
                <a:spcPct val="110000"/>
              </a:lnSpc>
              <a:spcAft>
                <a:spcPts val="1200"/>
              </a:spcAft>
              <a:buNone/>
            </a:pPr>
            <a:r>
              <a:rPr lang="en-US" sz="1500" dirty="0">
                <a:solidFill>
                  <a:schemeClr val="tx1"/>
                </a:solidFill>
              </a:rPr>
              <a:t>El log dice </a:t>
            </a:r>
            <a:pPr algn="l" indent="0" marL="0">
              <a:lnSpc>
                <a:spcPct val="110000"/>
              </a:lnSpc>
              <a:spcAft>
                <a:spcPts val="1200"/>
              </a:spcAft>
              <a:buNone/>
            </a:pPr>
            <a:r>
              <a:rPr lang="en-US" sz="1500" b="1" dirty="0">
                <a:solidFill>
                  <a:schemeClr val="accent4"/>
                </a:solidFill>
              </a:rPr>
              <a:t>validacion_fallida</a:t>
            </a:r>
            <a:pPr algn="l" indent="0" marL="0">
              <a:lnSpc>
                <a:spcPct val="110000"/>
              </a:lnSpc>
              <a:spcAft>
                <a:spcPts val="1200"/>
              </a:spcAft>
              <a:buNone/>
            </a:pPr>
            <a:r>
              <a:rPr lang="en-US" sz="1500" dirty="0">
                <a:solidFill>
                  <a:schemeClr val="tx1"/>
                </a:solidFill>
              </a:rPr>
              <a:t>: «Pendiente ausente o inválido (NoSuchKey)».</a:t>
            </a:r>
            <a:endParaRPr lang="en-US" sz="1500" dirty="0"/>
          </a:p>
          <a:p>
            <a:pPr algn="l" indent="0" marL="0">
              <a:lnSpc>
                <a:spcPct val="110000"/>
              </a:lnSpc>
              <a:spcAft>
                <a:spcPts val="1200"/>
              </a:spcAft>
              <a:buNone/>
            </a:pPr>
            <a:r>
              <a:rPr lang="en-US" sz="1500" dirty="0">
                <a:solidFill>
                  <a:schemeClr val="tx1"/>
                </a:solidFill>
              </a:rPr>
              <a:t>La función termina </a:t>
            </a:r>
            <a:pPr algn="l" indent="0" marL="0">
              <a:lnSpc>
                <a:spcPct val="110000"/>
              </a:lnSpc>
              <a:spcAft>
                <a:spcPts val="1200"/>
              </a:spcAft>
              <a:buNone/>
            </a:pPr>
            <a:r>
              <a:rPr lang="en-US" sz="1500" b="1" dirty="0">
                <a:solidFill>
                  <a:schemeClr val="tx1"/>
                </a:solidFill>
              </a:rPr>
              <a:t>sin error</a:t>
            </a:r>
            <a:pPr algn="l" indent="0" marL="0">
              <a:lnSpc>
                <a:spcPct val="110000"/>
              </a:lnSpc>
              <a:spcAft>
                <a:spcPts val="1200"/>
              </a:spcAft>
              <a:buNone/>
            </a:pPr>
            <a:r>
              <a:rPr lang="en-US" sz="1500" dirty="0">
                <a:solidFill>
                  <a:schemeClr val="tx1"/>
                </a:solidFill>
              </a:rPr>
              <a:t>: no tiene sentido reintentar algo que nunca va a funcionar, y no se crea ninguna noticia incompleta.</a:t>
            </a:r>
            <a:endParaRPr lang="en-US" sz="15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Falla DynamoDB: Lambda reintenta</a:t>
            </a:r>
            <a:endParaRPr lang="en-US" sz="3600" dirty="0"/>
          </a:p>
        </p:txBody>
      </p:sp>
      <p:pic>
        <p:nvPicPr>
          <p:cNvPr id="3" name="onda-bl" descr="Decoración">    </p:cNvPr>
          <p:cNvPicPr>
            <a:picLocks noChangeAspect="1"/>
          </p:cNvPicPr>
          <p:nvPr/>
        </p:nvPicPr>
        <p:blipFill>
          <a:blip r:embed="rId1"/>
          <a:stretch>
            <a:fillRect/>
          </a:stretch>
        </p:blipFill>
        <p:spPr>
          <a:xfrm>
            <a:off x="0" y="5120640"/>
            <a:ext cx="1737360" cy="1737360"/>
          </a:xfrm>
          <a:prstGeom prst="rect">
            <a:avLst/>
          </a:prstGeom>
        </p:spPr>
      </p:pic>
      <p:sp>
        <p:nvSpPr>
          <p:cNvPr id="4" name="marco-p04.png"/>
          <p:cNvSpPr/>
          <p:nvPr/>
        </p:nvSpPr>
        <p:spPr>
          <a:xfrm>
            <a:off x="722376" y="1636776"/>
            <a:ext cx="7059168" cy="2458318"/>
          </a:xfrm>
          <a:prstGeom prst="rect">
            <a:avLst/>
          </a:prstGeom>
          <a:solidFill>
            <a:schemeClr val="accent1"/>
          </a:solidFill>
          <a:ln/>
        </p:spPr>
      </p:sp>
      <p:pic>
        <p:nvPicPr>
          <p:cNvPr id="5" name="img-p04.png" descr="Falla de DynamoDB: tres intentos con ResourceNotFoundException">    </p:cNvPr>
          <p:cNvPicPr>
            <a:picLocks noChangeAspect="1"/>
          </p:cNvPicPr>
          <p:nvPr/>
        </p:nvPicPr>
        <p:blipFill>
          <a:blip r:embed="rId2"/>
          <a:stretch>
            <a:fillRect/>
          </a:stretch>
        </p:blipFill>
        <p:spPr>
          <a:xfrm>
            <a:off x="777240" y="1691640"/>
            <a:ext cx="6949440" cy="2348590"/>
          </a:xfrm>
          <a:prstGeom prst="rect">
            <a:avLst/>
          </a:prstGeom>
        </p:spPr>
      </p:pic>
      <p:sp>
        <p:nvSpPr>
          <p:cNvPr id="6" name="pie-imagen"/>
          <p:cNvSpPr txBox="1"/>
          <p:nvPr/>
        </p:nvSpPr>
        <p:spPr>
          <a:xfrm>
            <a:off x="777240" y="4177390"/>
            <a:ext cx="6949440" cy="365760"/>
          </a:xfrm>
          <a:prstGeom prst="rect">
            <a:avLst/>
          </a:prstGeom>
          <a:noFill/>
          <a:ln/>
        </p:spPr>
        <p:txBody>
          <a:bodyPr wrap="square" lIns="0" tIns="0" rIns="0" bIns="0" rtlCol="0" anchor="t"/>
          <a:lstStyle/>
          <a:p>
            <a:pPr indent="0" marL="0">
              <a:buNone/>
            </a:pPr>
            <a:r>
              <a:rPr lang="en-US" sz="1200" i="1" dirty="0">
                <a:solidFill>
                  <a:schemeClr val="accent6"/>
                </a:solidFill>
              </a:rPr>
              <a:t>Cambiamos la variable TABLA a una tabla inexistente; la tabla real no se tocó. Abajo: la configuración de reintentos.</a:t>
            </a:r>
            <a:endParaRPr lang="en-US" sz="1200" dirty="0"/>
          </a:p>
        </p:txBody>
      </p:sp>
      <p:sp>
        <p:nvSpPr>
          <p:cNvPr id="7" name="etiqueta-p04"/>
          <p:cNvSpPr txBox="1"/>
          <p:nvPr/>
        </p:nvSpPr>
        <p:spPr>
          <a:xfrm>
            <a:off x="8183880" y="1828800"/>
            <a:ext cx="1828800" cy="384048"/>
          </a:xfrm>
          <a:prstGeom prst="roundRect">
            <a:avLst>
              <a:gd name="adj" fmla="val 47619"/>
            </a:avLst>
          </a:prstGeom>
          <a:solidFill>
            <a:schemeClr val="accent5"/>
          </a:solidFill>
          <a:ln/>
        </p:spPr>
        <p:txBody>
          <a:bodyPr wrap="square" lIns="0" tIns="0" rIns="0" bIns="0" rtlCol="0" anchor="ctr"/>
          <a:lstStyle/>
          <a:p>
            <a:pPr algn="ctr" indent="0" marL="0">
              <a:buNone/>
            </a:pPr>
            <a:r>
              <a:rPr lang="en-US" sz="1400" b="1" dirty="0">
                <a:solidFill>
                  <a:schemeClr val="bg1"/>
                </a:solidFill>
              </a:rPr>
              <a:t>Recuperada ✓</a:t>
            </a:r>
            <a:endParaRPr lang="en-US" sz="1400" dirty="0"/>
          </a:p>
        </p:txBody>
      </p:sp>
      <p:sp>
        <p:nvSpPr>
          <p:cNvPr id="8" name="intentos"/>
          <p:cNvSpPr txBox="1"/>
          <p:nvPr/>
        </p:nvSpPr>
        <p:spPr>
          <a:xfrm>
            <a:off x="8183880" y="2377440"/>
            <a:ext cx="3200400" cy="914400"/>
          </a:xfrm>
          <a:prstGeom prst="rect">
            <a:avLst/>
          </a:prstGeom>
          <a:noFill/>
          <a:ln/>
        </p:spPr>
        <p:txBody>
          <a:bodyPr wrap="square" lIns="0" tIns="0" rIns="0" bIns="0" rtlCol="0" anchor="ctr"/>
          <a:lstStyle/>
          <a:p>
            <a:pPr indent="0" marL="0">
              <a:buNone/>
            </a:pPr>
            <a:r>
              <a:rPr lang="en-US" sz="6000" b="1" dirty="0">
                <a:solidFill>
                  <a:schemeClr val="accent4"/>
                </a:solidFill>
              </a:rPr>
              <a:t>3</a:t>
            </a:r>
            <a:pPr indent="0" marL="0">
              <a:buNone/>
            </a:pPr>
            <a:r>
              <a:rPr lang="en-US" sz="2200" b="1" dirty="0">
                <a:solidFill>
                  <a:schemeClr val="tx1"/>
                </a:solidFill>
              </a:rPr>
              <a:t>  intentos</a:t>
            </a:r>
            <a:endParaRPr lang="en-US" sz="6000" dirty="0"/>
          </a:p>
        </p:txBody>
      </p:sp>
      <p:sp>
        <p:nvSpPr>
          <p:cNvPr id="9" name="texto"/>
          <p:cNvSpPr txBox="1"/>
          <p:nvPr/>
        </p:nvSpPr>
        <p:spPr>
          <a:xfrm>
            <a:off x="8183880" y="3429000"/>
            <a:ext cx="3200400" cy="2560320"/>
          </a:xfrm>
          <a:prstGeom prst="rect">
            <a:avLst/>
          </a:prstGeom>
          <a:noFill/>
          <a:ln/>
        </p:spPr>
        <p:txBody>
          <a:bodyPr wrap="square" lIns="0" tIns="0" rIns="0" bIns="0" rtlCol="0" anchor="t"/>
          <a:lstStyle/>
          <a:p>
            <a:pPr algn="l" indent="0" marL="0">
              <a:lnSpc>
                <a:spcPct val="110000"/>
              </a:lnSpc>
              <a:spcAft>
                <a:spcPts val="1000"/>
              </a:spcAft>
              <a:buNone/>
            </a:pPr>
            <a:r>
              <a:rPr lang="en-US" sz="1500" dirty="0">
                <a:solidFill>
                  <a:schemeClr val="tx1"/>
                </a:solidFill>
              </a:rPr>
              <a:t>23:45 → 23:46 → 23:48 UTC, mismo requestId: el intento original más 2 reintentos automáticos.</a:t>
            </a:r>
            <a:endParaRPr lang="en-US" sz="1500" dirty="0"/>
          </a:p>
          <a:p>
            <a:pPr algn="l" indent="0" marL="0">
              <a:lnSpc>
                <a:spcPct val="110000"/>
              </a:lnSpc>
              <a:spcAft>
                <a:spcPts val="1000"/>
              </a:spcAft>
              <a:buNone/>
            </a:pPr>
            <a:r>
              <a:rPr lang="en-US" sz="1500" dirty="0">
                <a:solidFill>
                  <a:schemeClr val="tx1"/>
                </a:solidFill>
              </a:rPr>
              <a:t>Al restaurar la tabla, el evento se reprocesó y la noticia quedó </a:t>
            </a:r>
            <a:pPr algn="l" indent="0" marL="0">
              <a:lnSpc>
                <a:spcPct val="110000"/>
              </a:lnSpc>
              <a:spcAft>
                <a:spcPts val="1000"/>
              </a:spcAft>
              <a:buNone/>
            </a:pPr>
            <a:r>
              <a:rPr lang="en-US" sz="1500" b="1" dirty="0">
                <a:solidFill>
                  <a:schemeClr val="tx1"/>
                </a:solidFill>
              </a:rPr>
              <a:t>guardada</a:t>
            </a:r>
            <a:pPr algn="l" indent="0" marL="0">
              <a:lnSpc>
                <a:spcPct val="110000"/>
              </a:lnSpc>
              <a:spcAft>
                <a:spcPts val="1000"/>
              </a:spcAft>
              <a:buNone/>
            </a:pPr>
            <a:r>
              <a:rPr lang="en-US" sz="1500" dirty="0">
                <a:solidFill>
                  <a:schemeClr val="tx1"/>
                </a:solidFill>
              </a:rPr>
              <a:t> con el mismo id.</a:t>
            </a:r>
            <a:endParaRPr lang="en-US" sz="1500" dirty="0"/>
          </a:p>
        </p:txBody>
      </p:sp>
      <p:sp>
        <p:nvSpPr>
          <p:cNvPr id="10" name="marco-reintentos.png"/>
          <p:cNvSpPr/>
          <p:nvPr/>
        </p:nvSpPr>
        <p:spPr>
          <a:xfrm>
            <a:off x="722376" y="4654296"/>
            <a:ext cx="7059168" cy="1239337"/>
          </a:xfrm>
          <a:prstGeom prst="rect">
            <a:avLst/>
          </a:prstGeom>
          <a:solidFill>
            <a:schemeClr val="accent1"/>
          </a:solidFill>
          <a:ln/>
        </p:spPr>
      </p:sp>
      <p:pic>
        <p:nvPicPr>
          <p:cNvPr id="11" name="img-reintentos.png" descr="Configuración de invocación asíncrona: 2 reintentos, 1 hora">    </p:cNvPr>
          <p:cNvPicPr>
            <a:picLocks noChangeAspect="1"/>
          </p:cNvPicPr>
          <p:nvPr/>
        </p:nvPicPr>
        <p:blipFill>
          <a:blip r:embed="rId3"/>
          <a:stretch>
            <a:fillRect/>
          </a:stretch>
        </p:blipFill>
        <p:spPr>
          <a:xfrm>
            <a:off x="777240" y="4709160"/>
            <a:ext cx="6949440" cy="1129609"/>
          </a:xfrm>
          <a:prstGeom prst="rect">
            <a:avLst/>
          </a:prstGeom>
        </p:spPr>
      </p:pic>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La métrica Errors lo detecta</a:t>
            </a:r>
            <a:endParaRPr lang="en-US" sz="3600" dirty="0"/>
          </a:p>
        </p:txBody>
      </p:sp>
      <p:pic>
        <p:nvPicPr>
          <p:cNvPr id="3" name="onda-tr" descr="Decoración">    </p:cNvPr>
          <p:cNvPicPr>
            <a:picLocks noChangeAspect="1"/>
          </p:cNvPicPr>
          <p:nvPr/>
        </p:nvPicPr>
        <p:blipFill>
          <a:blip r:embed="rId1"/>
          <a:stretch>
            <a:fillRect/>
          </a:stretch>
        </p:blipFill>
        <p:spPr>
          <a:xfrm>
            <a:off x="10454335" y="0"/>
            <a:ext cx="1737360" cy="1737360"/>
          </a:xfrm>
          <a:prstGeom prst="rect">
            <a:avLst/>
          </a:prstGeom>
        </p:spPr>
      </p:pic>
      <p:sp>
        <p:nvSpPr>
          <p:cNvPr id="4" name="marco-p05.png"/>
          <p:cNvSpPr/>
          <p:nvPr/>
        </p:nvSpPr>
        <p:spPr>
          <a:xfrm>
            <a:off x="722376" y="1696004"/>
            <a:ext cx="7699248" cy="4334673"/>
          </a:xfrm>
          <a:prstGeom prst="rect">
            <a:avLst/>
          </a:prstGeom>
          <a:solidFill>
            <a:schemeClr val="accent1"/>
          </a:solidFill>
          <a:ln/>
        </p:spPr>
      </p:sp>
      <p:pic>
        <p:nvPicPr>
          <p:cNvPr id="5" name="img-p05.png" descr="Métricas de Lambda durante el fallo">    </p:cNvPr>
          <p:cNvPicPr>
            <a:picLocks noChangeAspect="1"/>
          </p:cNvPicPr>
          <p:nvPr/>
        </p:nvPicPr>
        <p:blipFill>
          <a:blip r:embed="rId2"/>
          <a:stretch>
            <a:fillRect/>
          </a:stretch>
        </p:blipFill>
        <p:spPr>
          <a:xfrm>
            <a:off x="777240" y="1750868"/>
            <a:ext cx="7589520" cy="4224945"/>
          </a:xfrm>
          <a:prstGeom prst="rect">
            <a:avLst/>
          </a:prstGeom>
        </p:spPr>
      </p:pic>
      <p:sp>
        <p:nvSpPr>
          <p:cNvPr id="6" name="etiqueta-p05"/>
          <p:cNvSpPr txBox="1"/>
          <p:nvPr/>
        </p:nvSpPr>
        <p:spPr>
          <a:xfrm>
            <a:off x="8778240" y="1828800"/>
            <a:ext cx="1828800" cy="384048"/>
          </a:xfrm>
          <a:prstGeom prst="roundRect">
            <a:avLst>
              <a:gd name="adj" fmla="val 47619"/>
            </a:avLst>
          </a:prstGeom>
          <a:solidFill>
            <a:schemeClr val="accent5"/>
          </a:solidFill>
          <a:ln/>
        </p:spPr>
        <p:txBody>
          <a:bodyPr wrap="square" lIns="0" tIns="0" rIns="0" bIns="0" rtlCol="0" anchor="ctr"/>
          <a:lstStyle/>
          <a:p>
            <a:pPr algn="ctr" indent="0" marL="0">
              <a:buNone/>
            </a:pPr>
            <a:r>
              <a:rPr lang="en-US" sz="1400" b="1" dirty="0">
                <a:solidFill>
                  <a:schemeClr val="bg1"/>
                </a:solidFill>
              </a:rPr>
              <a:t>Detectado ✓</a:t>
            </a:r>
            <a:endParaRPr lang="en-US" sz="1400" dirty="0"/>
          </a:p>
        </p:txBody>
      </p:sp>
      <p:sp>
        <p:nvSpPr>
          <p:cNvPr id="7" name="texto"/>
          <p:cNvSpPr txBox="1"/>
          <p:nvPr/>
        </p:nvSpPr>
        <p:spPr>
          <a:xfrm>
            <a:off x="8778240" y="2514600"/>
            <a:ext cx="2606040" cy="3566160"/>
          </a:xfrm>
          <a:prstGeom prst="rect">
            <a:avLst/>
          </a:prstGeom>
          <a:noFill/>
          <a:ln/>
        </p:spPr>
        <p:txBody>
          <a:bodyPr wrap="square" lIns="0" tIns="0" rIns="0" bIns="0" rtlCol="0" anchor="t"/>
          <a:lstStyle/>
          <a:p>
            <a:pPr algn="l" indent="0" marL="0">
              <a:lnSpc>
                <a:spcPct val="110000"/>
              </a:lnSpc>
              <a:spcAft>
                <a:spcPts val="800"/>
              </a:spcAft>
              <a:buNone/>
            </a:pPr>
            <a:r>
              <a:rPr lang="en-US" sz="1500" b="1" dirty="0">
                <a:solidFill>
                  <a:schemeClr val="tx1"/>
                </a:solidFill>
              </a:rPr>
              <a:t>Recuento de errores</a:t>
            </a:r>
            <a:endParaRPr lang="en-US" sz="1500" dirty="0"/>
          </a:p>
          <a:p>
            <a:pPr algn="l" indent="0" marL="0">
              <a:lnSpc>
                <a:spcPct val="110000"/>
              </a:lnSpc>
              <a:spcAft>
                <a:spcPts val="800"/>
              </a:spcAft>
              <a:buNone/>
            </a:pPr>
            <a:r>
              <a:rPr lang="en-US" sz="1500" dirty="0">
                <a:solidFill>
                  <a:schemeClr val="tx1"/>
                </a:solidFill>
              </a:rPr>
              <a:t>La métrica nativa Errors sube y la tasa de éxito cae a 0 % durante el fallo.</a:t>
            </a:r>
            <a:endParaRPr lang="en-US" sz="1500" dirty="0"/>
          </a:p>
          <a:p>
            <a:pPr algn="l" indent="0" marL="0">
              <a:lnSpc>
                <a:spcPct val="110000"/>
              </a:lnSpc>
              <a:spcAft>
                <a:spcPts val="800"/>
              </a:spcAft>
              <a:buNone/>
            </a:pPr>
            <a:r>
              <a:rPr lang="en-US" sz="1500" b="1" dirty="0">
                <a:solidFill>
                  <a:schemeClr val="tx1"/>
                </a:solidFill>
              </a:rPr>
              <a:t>Eventos asincrónicos</a:t>
            </a:r>
            <a:endParaRPr lang="en-US" sz="1500" dirty="0"/>
          </a:p>
          <a:p>
            <a:pPr algn="l" indent="0" marL="0">
              <a:lnSpc>
                <a:spcPct val="110000"/>
              </a:lnSpc>
              <a:spcAft>
                <a:spcPts val="800"/>
              </a:spcAft>
              <a:buNone/>
            </a:pPr>
            <a:r>
              <a:rPr lang="en-US" sz="1500" dirty="0">
                <a:solidFill>
                  <a:schemeClr val="tx1"/>
                </a:solidFill>
              </a:rPr>
              <a:t>3 recibidos y 1 eliminado al agotar los reintentos.</a:t>
            </a:r>
            <a:endParaRPr lang="en-US" sz="15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La alarma se encendió… y se apagó</a:t>
            </a:r>
            <a:endParaRPr lang="en-US" sz="3600" dirty="0"/>
          </a:p>
        </p:txBody>
      </p:sp>
      <p:pic>
        <p:nvPicPr>
          <p:cNvPr id="3" name="onda-bl" descr="Decoración">    </p:cNvPr>
          <p:cNvPicPr>
            <a:picLocks noChangeAspect="1"/>
          </p:cNvPicPr>
          <p:nvPr/>
        </p:nvPicPr>
        <p:blipFill>
          <a:blip r:embed="rId1"/>
          <a:stretch>
            <a:fillRect/>
          </a:stretch>
        </p:blipFill>
        <p:spPr>
          <a:xfrm>
            <a:off x="0" y="5120640"/>
            <a:ext cx="1737360" cy="1737360"/>
          </a:xfrm>
          <a:prstGeom prst="rect">
            <a:avLst/>
          </a:prstGeom>
        </p:spPr>
      </p:pic>
      <p:sp>
        <p:nvSpPr>
          <p:cNvPr id="4" name="marco-p06-alarm.png"/>
          <p:cNvSpPr/>
          <p:nvPr/>
        </p:nvSpPr>
        <p:spPr>
          <a:xfrm>
            <a:off x="722376" y="1636776"/>
            <a:ext cx="4590288" cy="1512291"/>
          </a:xfrm>
          <a:prstGeom prst="rect">
            <a:avLst/>
          </a:prstGeom>
          <a:solidFill>
            <a:schemeClr val="accent1"/>
          </a:solidFill>
          <a:ln/>
        </p:spPr>
      </p:sp>
      <p:pic>
        <p:nvPicPr>
          <p:cNvPr id="5" name="img-p06-alarm.png" descr="Alarma pasa a En modo alarma">    </p:cNvPr>
          <p:cNvPicPr>
            <a:picLocks noChangeAspect="1"/>
          </p:cNvPicPr>
          <p:nvPr/>
        </p:nvPicPr>
        <p:blipFill>
          <a:blip r:embed="rId2"/>
          <a:stretch>
            <a:fillRect/>
          </a:stretch>
        </p:blipFill>
        <p:spPr>
          <a:xfrm>
            <a:off x="777240" y="1691640"/>
            <a:ext cx="4480560" cy="1402563"/>
          </a:xfrm>
          <a:prstGeom prst="rect">
            <a:avLst/>
          </a:prstGeom>
        </p:spPr>
      </p:pic>
      <p:sp>
        <p:nvSpPr>
          <p:cNvPr id="6" name="marco-p06-ok.png"/>
          <p:cNvSpPr/>
          <p:nvPr/>
        </p:nvSpPr>
        <p:spPr>
          <a:xfrm>
            <a:off x="722376" y="3785616"/>
            <a:ext cx="5926826" cy="2395728"/>
          </a:xfrm>
          <a:prstGeom prst="rect">
            <a:avLst/>
          </a:prstGeom>
          <a:solidFill>
            <a:schemeClr val="accent1"/>
          </a:solidFill>
          <a:ln/>
        </p:spPr>
      </p:sp>
      <p:pic>
        <p:nvPicPr>
          <p:cNvPr id="7" name="img-p06-ok.png" descr="Alarma vuelve a CORRECTO">    </p:cNvPr>
          <p:cNvPicPr>
            <a:picLocks noChangeAspect="1"/>
          </p:cNvPicPr>
          <p:nvPr/>
        </p:nvPicPr>
        <p:blipFill>
          <a:blip r:embed="rId3"/>
          <a:stretch>
            <a:fillRect/>
          </a:stretch>
        </p:blipFill>
        <p:spPr>
          <a:xfrm>
            <a:off x="777240" y="3840480"/>
            <a:ext cx="5817098" cy="2286000"/>
          </a:xfrm>
          <a:prstGeom prst="rect">
            <a:avLst/>
          </a:prstGeom>
        </p:spPr>
      </p:pic>
      <p:sp>
        <p:nvSpPr>
          <p:cNvPr id="8" name="texto-recuperacion"/>
          <p:cNvSpPr txBox="1"/>
          <p:nvPr/>
        </p:nvSpPr>
        <p:spPr>
          <a:xfrm>
            <a:off x="6960098" y="3931920"/>
            <a:ext cx="4424182" cy="1463040"/>
          </a:xfrm>
          <a:prstGeom prst="rect">
            <a:avLst/>
          </a:prstGeom>
          <a:noFill/>
          <a:ln/>
        </p:spPr>
        <p:txBody>
          <a:bodyPr wrap="square" lIns="0" tIns="0" rIns="0" bIns="0" rtlCol="0" anchor="t"/>
          <a:lstStyle/>
          <a:p>
            <a:pPr indent="0" marL="0">
              <a:buNone/>
            </a:pPr>
            <a:r>
              <a:rPr lang="en-US" sz="1500" dirty="0">
                <a:solidFill>
                  <a:schemeClr val="tx1"/>
                </a:solidFill>
              </a:rPr>
              <a:t>La franja roja es el tiempo que duró el fallo. Al corregirlo, el estado vuelve solo a CORRECTO.</a:t>
            </a:r>
            <a:endParaRPr lang="en-US" sz="1500" dirty="0"/>
          </a:p>
        </p:txBody>
      </p:sp>
      <p:sp>
        <p:nvSpPr>
          <p:cNvPr id="9" name="etiqueta-p06"/>
          <p:cNvSpPr txBox="1"/>
          <p:nvPr/>
        </p:nvSpPr>
        <p:spPr>
          <a:xfrm>
            <a:off x="5715000" y="1783080"/>
            <a:ext cx="1371600" cy="384048"/>
          </a:xfrm>
          <a:prstGeom prst="roundRect">
            <a:avLst>
              <a:gd name="adj" fmla="val 47619"/>
            </a:avLst>
          </a:prstGeom>
          <a:solidFill>
            <a:schemeClr val="accent5"/>
          </a:solidFill>
          <a:ln/>
        </p:spPr>
        <p:txBody>
          <a:bodyPr wrap="square" lIns="0" tIns="0" rIns="0" bIns="0" rtlCol="0" anchor="ctr"/>
          <a:lstStyle/>
          <a:p>
            <a:pPr algn="ctr" indent="0" marL="0">
              <a:buNone/>
            </a:pPr>
            <a:r>
              <a:rPr lang="en-US" sz="1400" b="1" dirty="0">
                <a:solidFill>
                  <a:schemeClr val="bg1"/>
                </a:solidFill>
              </a:rPr>
              <a:t>Avisó ✓</a:t>
            </a:r>
            <a:endParaRPr lang="en-US" sz="1400" dirty="0"/>
          </a:p>
        </p:txBody>
      </p:sp>
      <p:sp>
        <p:nvSpPr>
          <p:cNvPr id="10" name="texto"/>
          <p:cNvSpPr txBox="1"/>
          <p:nvPr/>
        </p:nvSpPr>
        <p:spPr>
          <a:xfrm>
            <a:off x="5715000" y="2331720"/>
            <a:ext cx="5669280" cy="1325880"/>
          </a:xfrm>
          <a:prstGeom prst="rect">
            <a:avLst/>
          </a:prstGeom>
          <a:noFill/>
          <a:ln/>
        </p:spPr>
        <p:txBody>
          <a:bodyPr wrap="square" lIns="0" tIns="0" rIns="0" bIns="0" rtlCol="0" anchor="t"/>
          <a:lstStyle/>
          <a:p>
            <a:pPr algn="l" indent="0" marL="0">
              <a:lnSpc>
                <a:spcPct val="110000"/>
              </a:lnSpc>
              <a:spcAft>
                <a:spcPts val="600"/>
              </a:spcAft>
              <a:buNone/>
            </a:pPr>
            <a:r>
              <a:rPr lang="en-US" sz="1500" b="1" dirty="0">
                <a:solidFill>
                  <a:schemeClr val="tx1"/>
                </a:solidFill>
              </a:rPr>
              <a:t>gaceta-procesadora-errores</a:t>
            </a:r>
            <a:endParaRPr lang="en-US" sz="1500" dirty="0"/>
          </a:p>
          <a:p>
            <a:pPr algn="l" indent="0" marL="0">
              <a:lnSpc>
                <a:spcPct val="110000"/>
              </a:lnSpc>
              <a:spcAft>
                <a:spcPts val="600"/>
              </a:spcAft>
              <a:buNone/>
            </a:pPr>
            <a:r>
              <a:rPr lang="en-US" sz="1500" dirty="0">
                <a:solidFill>
                  <a:schemeClr val="tx1"/>
                </a:solidFill>
              </a:rPr>
              <a:t>Errors ≥ 1 en 1 minuto → ALARMA.</a:t>
            </a:r>
            <a:endParaRPr lang="en-US" sz="1500" dirty="0"/>
          </a:p>
          <a:p>
            <a:pPr algn="l" indent="0" marL="0">
              <a:lnSpc>
                <a:spcPct val="110000"/>
              </a:lnSpc>
              <a:spcAft>
                <a:spcPts val="600"/>
              </a:spcAft>
              <a:buNone/>
            </a:pPr>
            <a:r>
              <a:rPr lang="en-US" sz="1500" dirty="0">
                <a:solidFill>
                  <a:schemeClr val="tx1"/>
                </a:solidFill>
              </a:rPr>
              <a:t>23:46:42 se enciende · 23:51:42 vuelve a CORRECTO tras la recuperación.</a:t>
            </a:r>
            <a:endParaRPr lang="en-US" sz="15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Sin duplicados y con paciencia</a:t>
            </a:r>
            <a:endParaRPr lang="en-US" sz="3600" dirty="0"/>
          </a:p>
        </p:txBody>
      </p:sp>
      <p:pic>
        <p:nvPicPr>
          <p:cNvPr id="3" name="onda-tr" descr="Decoración">    </p:cNvPr>
          <p:cNvPicPr>
            <a:picLocks noChangeAspect="1"/>
          </p:cNvPicPr>
          <p:nvPr/>
        </p:nvPicPr>
        <p:blipFill>
          <a:blip r:embed="rId1"/>
          <a:stretch>
            <a:fillRect/>
          </a:stretch>
        </p:blipFill>
        <p:spPr>
          <a:xfrm>
            <a:off x="10454335" y="0"/>
            <a:ext cx="1737360" cy="1737360"/>
          </a:xfrm>
          <a:prstGeom prst="rect">
            <a:avLst/>
          </a:prstGeom>
        </p:spPr>
      </p:pic>
      <p:sp>
        <p:nvSpPr>
          <p:cNvPr id="4" name="marco-p07.png"/>
          <p:cNvSpPr/>
          <p:nvPr/>
        </p:nvSpPr>
        <p:spPr>
          <a:xfrm>
            <a:off x="722376" y="1728216"/>
            <a:ext cx="6144768" cy="2855331"/>
          </a:xfrm>
          <a:prstGeom prst="rect">
            <a:avLst/>
          </a:prstGeom>
          <a:solidFill>
            <a:schemeClr val="accent1"/>
          </a:solidFill>
          <a:ln/>
        </p:spPr>
      </p:sp>
      <p:pic>
        <p:nvPicPr>
          <p:cNvPr id="5" name="img-p07.png" descr="Evento repetido: log duplicado">    </p:cNvPr>
          <p:cNvPicPr>
            <a:picLocks noChangeAspect="1"/>
          </p:cNvPicPr>
          <p:nvPr/>
        </p:nvPicPr>
        <p:blipFill>
          <a:blip r:embed="rId2"/>
          <a:stretch>
            <a:fillRect/>
          </a:stretch>
        </p:blipFill>
        <p:spPr>
          <a:xfrm>
            <a:off x="777240" y="1783080"/>
            <a:ext cx="6035040" cy="2745603"/>
          </a:xfrm>
          <a:prstGeom prst="rect">
            <a:avLst/>
          </a:prstGeom>
        </p:spPr>
      </p:pic>
      <p:sp>
        <p:nvSpPr>
          <p:cNvPr id="6" name="marco-p08.png"/>
          <p:cNvSpPr/>
          <p:nvPr/>
        </p:nvSpPr>
        <p:spPr>
          <a:xfrm>
            <a:off x="7260336" y="1728216"/>
            <a:ext cx="2936608" cy="3813048"/>
          </a:xfrm>
          <a:prstGeom prst="rect">
            <a:avLst/>
          </a:prstGeom>
          <a:solidFill>
            <a:schemeClr val="accent1"/>
          </a:solidFill>
          <a:ln/>
        </p:spPr>
      </p:sp>
      <p:pic>
        <p:nvPicPr>
          <p:cNvPr id="7" name="img-p08.png" descr="La web muestra procesamiento pendiente">    </p:cNvPr>
          <p:cNvPicPr>
            <a:picLocks noChangeAspect="1"/>
          </p:cNvPicPr>
          <p:nvPr/>
        </p:nvPicPr>
        <p:blipFill>
          <a:blip r:embed="rId3"/>
          <a:stretch>
            <a:fillRect/>
          </a:stretch>
        </p:blipFill>
        <p:spPr>
          <a:xfrm>
            <a:off x="7315200" y="1783080"/>
            <a:ext cx="2826880" cy="3703320"/>
          </a:xfrm>
          <a:prstGeom prst="rect">
            <a:avLst/>
          </a:prstGeom>
        </p:spPr>
      </p:pic>
      <p:sp>
        <p:nvSpPr>
          <p:cNvPr id="8" name="etiqueta-p07"/>
          <p:cNvSpPr txBox="1"/>
          <p:nvPr/>
        </p:nvSpPr>
        <p:spPr>
          <a:xfrm>
            <a:off x="777240" y="5257800"/>
            <a:ext cx="2743200" cy="384048"/>
          </a:xfrm>
          <a:prstGeom prst="roundRect">
            <a:avLst>
              <a:gd name="adj" fmla="val 47619"/>
            </a:avLst>
          </a:prstGeom>
          <a:solidFill>
            <a:schemeClr val="accent5"/>
          </a:solidFill>
          <a:ln/>
        </p:spPr>
        <p:txBody>
          <a:bodyPr wrap="square" lIns="0" tIns="0" rIns="0" bIns="0" rtlCol="0" anchor="ctr"/>
          <a:lstStyle/>
          <a:p>
            <a:pPr algn="ctr" indent="0" marL="0">
              <a:buNone/>
            </a:pPr>
            <a:r>
              <a:rPr lang="en-US" sz="1400" b="1" dirty="0">
                <a:solidFill>
                  <a:schemeClr val="bg1"/>
                </a:solidFill>
              </a:rPr>
              <a:t>✓  Evento repetido</a:t>
            </a:r>
            <a:endParaRPr lang="en-US" sz="1400" dirty="0"/>
          </a:p>
        </p:txBody>
      </p:sp>
      <p:sp>
        <p:nvSpPr>
          <p:cNvPr id="9" name="texto-p07"/>
          <p:cNvSpPr txBox="1"/>
          <p:nvPr/>
        </p:nvSpPr>
        <p:spPr>
          <a:xfrm>
            <a:off x="3703320" y="5120640"/>
            <a:ext cx="3154680" cy="914400"/>
          </a:xfrm>
          <a:prstGeom prst="rect">
            <a:avLst/>
          </a:prstGeom>
          <a:noFill/>
          <a:ln/>
        </p:spPr>
        <p:txBody>
          <a:bodyPr wrap="square" lIns="0" tIns="0" rIns="0" bIns="0" rtlCol="0" anchor="t"/>
          <a:lstStyle/>
          <a:p>
            <a:pPr indent="0" marL="0">
              <a:buNone/>
            </a:pPr>
            <a:r>
              <a:rPr lang="en-US" sz="1300" dirty="0">
                <a:solidFill>
                  <a:schemeClr val="tx1"/>
                </a:solidFill>
              </a:rPr>
              <a:t>Mandamos dos veces el mismo evento: el log dice «duplicado» y la tabla conserva un solo registro.</a:t>
            </a:r>
            <a:endParaRPr lang="en-US" sz="1300" dirty="0"/>
          </a:p>
        </p:txBody>
      </p:sp>
      <p:sp>
        <p:nvSpPr>
          <p:cNvPr id="10" name="etiqueta-p08"/>
          <p:cNvSpPr txBox="1"/>
          <p:nvPr/>
        </p:nvSpPr>
        <p:spPr>
          <a:xfrm>
            <a:off x="7315200" y="5669280"/>
            <a:ext cx="3108960" cy="384048"/>
          </a:xfrm>
          <a:prstGeom prst="roundRect">
            <a:avLst>
              <a:gd name="adj" fmla="val 47619"/>
            </a:avLst>
          </a:prstGeom>
          <a:solidFill>
            <a:schemeClr val="accent5"/>
          </a:solidFill>
          <a:ln/>
        </p:spPr>
        <p:txBody>
          <a:bodyPr wrap="square" lIns="0" tIns="0" rIns="0" bIns="0" rtlCol="0" anchor="ctr"/>
          <a:lstStyle/>
          <a:p>
            <a:pPr algn="ctr" indent="0" marL="0">
              <a:buNone/>
            </a:pPr>
            <a:r>
              <a:rPr lang="en-US" sz="1400" b="1" dirty="0">
                <a:solidFill>
                  <a:schemeClr val="bg1"/>
                </a:solidFill>
              </a:rPr>
              <a:t>✓  Procesamiento lento</a:t>
            </a:r>
            <a:endParaRPr lang="en-US" sz="14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Todo lo que comprobamos</a:t>
            </a:r>
            <a:endParaRPr lang="en-US" sz="3600" dirty="0"/>
          </a:p>
        </p:txBody>
      </p:sp>
      <p:pic>
        <p:nvPicPr>
          <p:cNvPr id="3" name="onda-br" descr="Decoración">    </p:cNvPr>
          <p:cNvPicPr>
            <a:picLocks noChangeAspect="1"/>
          </p:cNvPicPr>
          <p:nvPr/>
        </p:nvPicPr>
        <p:blipFill>
          <a:blip r:embed="rId1"/>
          <a:stretch>
            <a:fillRect/>
          </a:stretch>
        </p:blipFill>
        <p:spPr>
          <a:xfrm>
            <a:off x="10180015" y="4846320"/>
            <a:ext cx="2011680" cy="2011680"/>
          </a:xfrm>
          <a:prstGeom prst="rect">
            <a:avLst/>
          </a:prstGeom>
        </p:spPr>
      </p:pic>
      <p:sp>
        <p:nvSpPr>
          <p:cNvPr id="4" name="prueba-P01-fondo"/>
          <p:cNvSpPr/>
          <p:nvPr/>
        </p:nvSpPr>
        <p:spPr>
          <a:xfrm>
            <a:off x="777240" y="1783080"/>
            <a:ext cx="2240280" cy="1417320"/>
          </a:xfrm>
          <a:prstGeom prst="rect">
            <a:avLst/>
          </a:prstGeom>
          <a:solidFill>
            <a:schemeClr val="bg1"/>
          </a:solidFill>
          <a:ln w="19050">
            <a:solidFill>
              <a:schemeClr val="accent2"/>
            </a:solidFill>
            <a:prstDash val="solid"/>
          </a:ln>
        </p:spPr>
      </p:sp>
      <p:sp>
        <p:nvSpPr>
          <p:cNvPr id="5" name="prueba-P01"/>
          <p:cNvSpPr txBox="1"/>
          <p:nvPr/>
        </p:nvSpPr>
        <p:spPr>
          <a:xfrm>
            <a:off x="1005840" y="196596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Publicación</a:t>
            </a:r>
            <a:endParaRPr lang="en-US" sz="1800" dirty="0"/>
          </a:p>
        </p:txBody>
      </p:sp>
      <p:sp>
        <p:nvSpPr>
          <p:cNvPr id="6" name="prueba-P01-ok"/>
          <p:cNvSpPr txBox="1"/>
          <p:nvPr/>
        </p:nvSpPr>
        <p:spPr>
          <a:xfrm>
            <a:off x="2331720" y="198424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7" name="prueba-P01-nombre"/>
          <p:cNvSpPr txBox="1"/>
          <p:nvPr/>
        </p:nvSpPr>
        <p:spPr>
          <a:xfrm>
            <a:off x="1005840" y="2606040"/>
            <a:ext cx="1874520" cy="566928"/>
          </a:xfrm>
          <a:prstGeom prst="rect">
            <a:avLst/>
          </a:prstGeom>
          <a:noFill/>
          <a:ln/>
        </p:spPr>
        <p:txBody>
          <a:bodyPr wrap="square" lIns="0" tIns="0" rIns="0" bIns="0" rtlCol="0" anchor="t"/>
          <a:lstStyle/>
          <a:p>
            <a:pPr indent="0" marL="0">
              <a:buNone/>
            </a:pPr>
            <a:r>
              <a:rPr lang="en-US" sz="1400" dirty="0">
                <a:solidFill>
                  <a:schemeClr val="tx1"/>
                </a:solidFill>
              </a:rPr>
              <a:t>S3 activa la procesadora sola</a:t>
            </a:r>
            <a:endParaRPr lang="en-US" sz="1400" dirty="0"/>
          </a:p>
        </p:txBody>
      </p:sp>
      <p:sp>
        <p:nvSpPr>
          <p:cNvPr id="8" name="prueba-P02-fondo"/>
          <p:cNvSpPr/>
          <p:nvPr/>
        </p:nvSpPr>
        <p:spPr>
          <a:xfrm>
            <a:off x="3291840" y="1783080"/>
            <a:ext cx="2240280" cy="1417320"/>
          </a:xfrm>
          <a:prstGeom prst="rect">
            <a:avLst/>
          </a:prstGeom>
          <a:solidFill>
            <a:schemeClr val="bg1"/>
          </a:solidFill>
          <a:ln w="19050">
            <a:solidFill>
              <a:schemeClr val="accent2"/>
            </a:solidFill>
            <a:prstDash val="solid"/>
          </a:ln>
        </p:spPr>
      </p:sp>
      <p:sp>
        <p:nvSpPr>
          <p:cNvPr id="9" name="prueba-P02"/>
          <p:cNvSpPr txBox="1"/>
          <p:nvPr/>
        </p:nvSpPr>
        <p:spPr>
          <a:xfrm>
            <a:off x="3520440" y="196596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Guardado</a:t>
            </a:r>
            <a:endParaRPr lang="en-US" sz="1800" dirty="0"/>
          </a:p>
        </p:txBody>
      </p:sp>
      <p:sp>
        <p:nvSpPr>
          <p:cNvPr id="10" name="prueba-P02-ok"/>
          <p:cNvSpPr txBox="1"/>
          <p:nvPr/>
        </p:nvSpPr>
        <p:spPr>
          <a:xfrm>
            <a:off x="4846320" y="198424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1" name="prueba-P02-nombre"/>
          <p:cNvSpPr txBox="1"/>
          <p:nvPr/>
        </p:nvSpPr>
        <p:spPr>
          <a:xfrm>
            <a:off x="3520440" y="2606040"/>
            <a:ext cx="1874520" cy="566928"/>
          </a:xfrm>
          <a:prstGeom prst="rect">
            <a:avLst/>
          </a:prstGeom>
          <a:noFill/>
          <a:ln/>
        </p:spPr>
        <p:txBody>
          <a:bodyPr wrap="square" lIns="0" tIns="0" rIns="0" bIns="0" rtlCol="0" anchor="t"/>
          <a:lstStyle/>
          <a:p>
            <a:pPr indent="0" marL="0">
              <a:buNone/>
            </a:pPr>
            <a:r>
              <a:rPr lang="en-US" sz="1400" dirty="0">
                <a:solidFill>
                  <a:schemeClr val="tx1"/>
                </a:solidFill>
              </a:rPr>
              <a:t>La noticia sigue al recargar</a:t>
            </a:r>
            <a:endParaRPr lang="en-US" sz="1400" dirty="0"/>
          </a:p>
        </p:txBody>
      </p:sp>
      <p:sp>
        <p:nvSpPr>
          <p:cNvPr id="12" name="prueba-P03-fondo"/>
          <p:cNvSpPr/>
          <p:nvPr/>
        </p:nvSpPr>
        <p:spPr>
          <a:xfrm>
            <a:off x="5806440" y="1783080"/>
            <a:ext cx="2240280" cy="1417320"/>
          </a:xfrm>
          <a:prstGeom prst="rect">
            <a:avLst/>
          </a:prstGeom>
          <a:solidFill>
            <a:schemeClr val="bg1"/>
          </a:solidFill>
          <a:ln w="19050">
            <a:solidFill>
              <a:schemeClr val="accent2"/>
            </a:solidFill>
            <a:prstDash val="solid"/>
          </a:ln>
        </p:spPr>
      </p:sp>
      <p:sp>
        <p:nvSpPr>
          <p:cNvPr id="13" name="prueba-P03"/>
          <p:cNvSpPr txBox="1"/>
          <p:nvPr/>
        </p:nvSpPr>
        <p:spPr>
          <a:xfrm>
            <a:off x="6035040" y="196596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Sin datos</a:t>
            </a:r>
            <a:endParaRPr lang="en-US" sz="1800" dirty="0"/>
          </a:p>
        </p:txBody>
      </p:sp>
      <p:sp>
        <p:nvSpPr>
          <p:cNvPr id="14" name="prueba-P03-ok"/>
          <p:cNvSpPr txBox="1"/>
          <p:nvPr/>
        </p:nvSpPr>
        <p:spPr>
          <a:xfrm>
            <a:off x="7360920" y="198424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5" name="prueba-P03-nombre"/>
          <p:cNvSpPr txBox="1"/>
          <p:nvPr/>
        </p:nvSpPr>
        <p:spPr>
          <a:xfrm>
            <a:off x="6035040" y="2606040"/>
            <a:ext cx="1874520" cy="566928"/>
          </a:xfrm>
          <a:prstGeom prst="rect">
            <a:avLst/>
          </a:prstGeom>
          <a:noFill/>
          <a:ln/>
        </p:spPr>
        <p:txBody>
          <a:bodyPr wrap="square" lIns="0" tIns="0" rIns="0" bIns="0" rtlCol="0" anchor="t"/>
          <a:lstStyle/>
          <a:p>
            <a:pPr indent="0" marL="0">
              <a:buNone/>
            </a:pPr>
            <a:r>
              <a:rPr lang="en-US" sz="1400" dirty="0">
                <a:solidFill>
                  <a:schemeClr val="tx1"/>
                </a:solidFill>
              </a:rPr>
              <a:t>Se descarta sin dejar nada a medias</a:t>
            </a:r>
            <a:endParaRPr lang="en-US" sz="1400" dirty="0"/>
          </a:p>
        </p:txBody>
      </p:sp>
      <p:sp>
        <p:nvSpPr>
          <p:cNvPr id="16" name="prueba-P04-fondo"/>
          <p:cNvSpPr/>
          <p:nvPr/>
        </p:nvSpPr>
        <p:spPr>
          <a:xfrm>
            <a:off x="8321040" y="1783080"/>
            <a:ext cx="2240280" cy="1417320"/>
          </a:xfrm>
          <a:prstGeom prst="rect">
            <a:avLst/>
          </a:prstGeom>
          <a:solidFill>
            <a:schemeClr val="bg1"/>
          </a:solidFill>
          <a:ln w="19050">
            <a:solidFill>
              <a:schemeClr val="accent2"/>
            </a:solidFill>
            <a:prstDash val="solid"/>
          </a:ln>
        </p:spPr>
      </p:sp>
      <p:sp>
        <p:nvSpPr>
          <p:cNvPr id="17" name="prueba-P04"/>
          <p:cNvSpPr txBox="1"/>
          <p:nvPr/>
        </p:nvSpPr>
        <p:spPr>
          <a:xfrm>
            <a:off x="8549640" y="196596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Reintentos</a:t>
            </a:r>
            <a:endParaRPr lang="en-US" sz="1800" dirty="0"/>
          </a:p>
        </p:txBody>
      </p:sp>
      <p:sp>
        <p:nvSpPr>
          <p:cNvPr id="18" name="prueba-P04-ok"/>
          <p:cNvSpPr txBox="1"/>
          <p:nvPr/>
        </p:nvSpPr>
        <p:spPr>
          <a:xfrm>
            <a:off x="9875520" y="198424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9" name="prueba-P04-nombre"/>
          <p:cNvSpPr txBox="1"/>
          <p:nvPr/>
        </p:nvSpPr>
        <p:spPr>
          <a:xfrm>
            <a:off x="8549640" y="2606040"/>
            <a:ext cx="1874520" cy="566928"/>
          </a:xfrm>
          <a:prstGeom prst="rect">
            <a:avLst/>
          </a:prstGeom>
          <a:noFill/>
          <a:ln/>
        </p:spPr>
        <p:txBody>
          <a:bodyPr wrap="square" lIns="0" tIns="0" rIns="0" bIns="0" rtlCol="0" anchor="t"/>
          <a:lstStyle/>
          <a:p>
            <a:pPr indent="0" marL="0">
              <a:buNone/>
            </a:pPr>
            <a:r>
              <a:rPr lang="en-US" sz="1400" dirty="0">
                <a:solidFill>
                  <a:schemeClr val="tx1"/>
                </a:solidFill>
              </a:rPr>
              <a:t>La base falla y la noticia se recupera</a:t>
            </a:r>
            <a:endParaRPr lang="en-US" sz="1400" dirty="0"/>
          </a:p>
        </p:txBody>
      </p:sp>
      <p:sp>
        <p:nvSpPr>
          <p:cNvPr id="20" name="prueba-P05-fondo"/>
          <p:cNvSpPr/>
          <p:nvPr/>
        </p:nvSpPr>
        <p:spPr>
          <a:xfrm>
            <a:off x="777240" y="3474720"/>
            <a:ext cx="2240280" cy="1417320"/>
          </a:xfrm>
          <a:prstGeom prst="rect">
            <a:avLst/>
          </a:prstGeom>
          <a:solidFill>
            <a:schemeClr val="bg1"/>
          </a:solidFill>
          <a:ln w="19050">
            <a:solidFill>
              <a:schemeClr val="accent2"/>
            </a:solidFill>
            <a:prstDash val="solid"/>
          </a:ln>
        </p:spPr>
      </p:sp>
      <p:sp>
        <p:nvSpPr>
          <p:cNvPr id="21" name="prueba-P05"/>
          <p:cNvSpPr txBox="1"/>
          <p:nvPr/>
        </p:nvSpPr>
        <p:spPr>
          <a:xfrm>
            <a:off x="1005840" y="365760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Métrica</a:t>
            </a:r>
            <a:endParaRPr lang="en-US" sz="1800" dirty="0"/>
          </a:p>
        </p:txBody>
      </p:sp>
      <p:sp>
        <p:nvSpPr>
          <p:cNvPr id="22" name="prueba-P05-ok"/>
          <p:cNvSpPr txBox="1"/>
          <p:nvPr/>
        </p:nvSpPr>
        <p:spPr>
          <a:xfrm>
            <a:off x="2331720" y="367588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3" name="prueba-P05-nombre"/>
          <p:cNvSpPr txBox="1"/>
          <p:nvPr/>
        </p:nvSpPr>
        <p:spPr>
          <a:xfrm>
            <a:off x="1005840" y="4297680"/>
            <a:ext cx="1874520" cy="566928"/>
          </a:xfrm>
          <a:prstGeom prst="rect">
            <a:avLst/>
          </a:prstGeom>
          <a:noFill/>
          <a:ln/>
        </p:spPr>
        <p:txBody>
          <a:bodyPr wrap="square" lIns="0" tIns="0" rIns="0" bIns="0" rtlCol="0" anchor="t"/>
          <a:lstStyle/>
          <a:p>
            <a:pPr indent="0" marL="0">
              <a:buNone/>
            </a:pPr>
            <a:r>
              <a:rPr lang="en-US" sz="1400" dirty="0">
                <a:solidFill>
                  <a:schemeClr val="tx1"/>
                </a:solidFill>
              </a:rPr>
              <a:t>Errors registra el pico de fallos</a:t>
            </a:r>
            <a:endParaRPr lang="en-US" sz="1400" dirty="0"/>
          </a:p>
        </p:txBody>
      </p:sp>
      <p:sp>
        <p:nvSpPr>
          <p:cNvPr id="24" name="prueba-P06-fondo"/>
          <p:cNvSpPr/>
          <p:nvPr/>
        </p:nvSpPr>
        <p:spPr>
          <a:xfrm>
            <a:off x="3291840" y="3474720"/>
            <a:ext cx="2240280" cy="1417320"/>
          </a:xfrm>
          <a:prstGeom prst="rect">
            <a:avLst/>
          </a:prstGeom>
          <a:solidFill>
            <a:schemeClr val="bg1"/>
          </a:solidFill>
          <a:ln w="19050">
            <a:solidFill>
              <a:schemeClr val="accent2"/>
            </a:solidFill>
            <a:prstDash val="solid"/>
          </a:ln>
        </p:spPr>
      </p:sp>
      <p:sp>
        <p:nvSpPr>
          <p:cNvPr id="25" name="prueba-P06"/>
          <p:cNvSpPr txBox="1"/>
          <p:nvPr/>
        </p:nvSpPr>
        <p:spPr>
          <a:xfrm>
            <a:off x="3520440" y="365760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Alarma</a:t>
            </a:r>
            <a:endParaRPr lang="en-US" sz="1800" dirty="0"/>
          </a:p>
        </p:txBody>
      </p:sp>
      <p:sp>
        <p:nvSpPr>
          <p:cNvPr id="26" name="prueba-P06-ok"/>
          <p:cNvSpPr txBox="1"/>
          <p:nvPr/>
        </p:nvSpPr>
        <p:spPr>
          <a:xfrm>
            <a:off x="4846320" y="367588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7" name="prueba-P06-nombre"/>
          <p:cNvSpPr txBox="1"/>
          <p:nvPr/>
        </p:nvSpPr>
        <p:spPr>
          <a:xfrm>
            <a:off x="3520440" y="4297680"/>
            <a:ext cx="1874520" cy="566928"/>
          </a:xfrm>
          <a:prstGeom prst="rect">
            <a:avLst/>
          </a:prstGeom>
          <a:noFill/>
          <a:ln/>
        </p:spPr>
        <p:txBody>
          <a:bodyPr wrap="square" lIns="0" tIns="0" rIns="0" bIns="0" rtlCol="0" anchor="t"/>
          <a:lstStyle/>
          <a:p>
            <a:pPr indent="0" marL="0">
              <a:buNone/>
            </a:pPr>
            <a:r>
              <a:rPr lang="en-US" sz="1400" dirty="0">
                <a:solidFill>
                  <a:schemeClr val="tx1"/>
                </a:solidFill>
              </a:rPr>
              <a:t>Se enciende y se apaga sola</a:t>
            </a:r>
            <a:endParaRPr lang="en-US" sz="1400" dirty="0"/>
          </a:p>
        </p:txBody>
      </p:sp>
      <p:sp>
        <p:nvSpPr>
          <p:cNvPr id="28" name="prueba-P07-fondo"/>
          <p:cNvSpPr/>
          <p:nvPr/>
        </p:nvSpPr>
        <p:spPr>
          <a:xfrm>
            <a:off x="5806440" y="3474720"/>
            <a:ext cx="2240280" cy="1417320"/>
          </a:xfrm>
          <a:prstGeom prst="rect">
            <a:avLst/>
          </a:prstGeom>
          <a:solidFill>
            <a:schemeClr val="bg1"/>
          </a:solidFill>
          <a:ln w="19050">
            <a:solidFill>
              <a:schemeClr val="accent2"/>
            </a:solidFill>
            <a:prstDash val="solid"/>
          </a:ln>
        </p:spPr>
      </p:sp>
      <p:sp>
        <p:nvSpPr>
          <p:cNvPr id="29" name="prueba-P07"/>
          <p:cNvSpPr txBox="1"/>
          <p:nvPr/>
        </p:nvSpPr>
        <p:spPr>
          <a:xfrm>
            <a:off x="6035040" y="365760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Duplicados</a:t>
            </a:r>
            <a:endParaRPr lang="en-US" sz="1800" dirty="0"/>
          </a:p>
        </p:txBody>
      </p:sp>
      <p:sp>
        <p:nvSpPr>
          <p:cNvPr id="30" name="prueba-P07-ok"/>
          <p:cNvSpPr txBox="1"/>
          <p:nvPr/>
        </p:nvSpPr>
        <p:spPr>
          <a:xfrm>
            <a:off x="7360920" y="367588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1" name="prueba-P07-nombre"/>
          <p:cNvSpPr txBox="1"/>
          <p:nvPr/>
        </p:nvSpPr>
        <p:spPr>
          <a:xfrm>
            <a:off x="6035040" y="4297680"/>
            <a:ext cx="1874520" cy="566928"/>
          </a:xfrm>
          <a:prstGeom prst="rect">
            <a:avLst/>
          </a:prstGeom>
          <a:noFill/>
          <a:ln/>
        </p:spPr>
        <p:txBody>
          <a:bodyPr wrap="square" lIns="0" tIns="0" rIns="0" bIns="0" rtlCol="0" anchor="t"/>
          <a:lstStyle/>
          <a:p>
            <a:pPr indent="0" marL="0">
              <a:buNone/>
            </a:pPr>
            <a:r>
              <a:rPr lang="en-US" sz="1400" dirty="0">
                <a:solidFill>
                  <a:schemeClr val="tx1"/>
                </a:solidFill>
              </a:rPr>
              <a:t>Un evento repetido no duplica</a:t>
            </a:r>
            <a:endParaRPr lang="en-US" sz="1400" dirty="0"/>
          </a:p>
        </p:txBody>
      </p:sp>
      <p:sp>
        <p:nvSpPr>
          <p:cNvPr id="32" name="prueba-P08-fondo"/>
          <p:cNvSpPr/>
          <p:nvPr/>
        </p:nvSpPr>
        <p:spPr>
          <a:xfrm>
            <a:off x="8321040" y="3474720"/>
            <a:ext cx="2240280" cy="1417320"/>
          </a:xfrm>
          <a:prstGeom prst="rect">
            <a:avLst/>
          </a:prstGeom>
          <a:solidFill>
            <a:schemeClr val="bg1"/>
          </a:solidFill>
          <a:ln w="19050">
            <a:solidFill>
              <a:schemeClr val="accent2"/>
            </a:solidFill>
            <a:prstDash val="solid"/>
          </a:ln>
        </p:spPr>
      </p:sp>
      <p:sp>
        <p:nvSpPr>
          <p:cNvPr id="33" name="prueba-P08"/>
          <p:cNvSpPr txBox="1"/>
          <p:nvPr/>
        </p:nvSpPr>
        <p:spPr>
          <a:xfrm>
            <a:off x="8549640" y="3657600"/>
            <a:ext cx="1325880" cy="548640"/>
          </a:xfrm>
          <a:prstGeom prst="rect">
            <a:avLst/>
          </a:prstGeom>
          <a:noFill/>
          <a:ln/>
        </p:spPr>
        <p:txBody>
          <a:bodyPr wrap="square" lIns="0" tIns="0" rIns="0" bIns="0" rtlCol="0" anchor="ctr"/>
          <a:lstStyle/>
          <a:p>
            <a:pPr indent="0" marL="0">
              <a:buNone/>
            </a:pPr>
            <a:r>
              <a:rPr lang="en-US" sz="1800" b="1" dirty="0">
                <a:solidFill>
                  <a:schemeClr val="accent1"/>
                </a:solidFill>
              </a:rPr>
              <a:t>Espera</a:t>
            </a:r>
            <a:endParaRPr lang="en-US" sz="1800" dirty="0"/>
          </a:p>
        </p:txBody>
      </p:sp>
      <p:sp>
        <p:nvSpPr>
          <p:cNvPr id="34" name="prueba-P08-ok"/>
          <p:cNvSpPr txBox="1"/>
          <p:nvPr/>
        </p:nvSpPr>
        <p:spPr>
          <a:xfrm>
            <a:off x="9875520" y="3675888"/>
            <a:ext cx="475488" cy="475488"/>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5" name="prueba-P08-nombre"/>
          <p:cNvSpPr txBox="1"/>
          <p:nvPr/>
        </p:nvSpPr>
        <p:spPr>
          <a:xfrm>
            <a:off x="8549640" y="4297680"/>
            <a:ext cx="1874520" cy="566928"/>
          </a:xfrm>
          <a:prstGeom prst="rect">
            <a:avLst/>
          </a:prstGeom>
          <a:noFill/>
          <a:ln/>
        </p:spPr>
        <p:txBody>
          <a:bodyPr wrap="square" lIns="0" tIns="0" rIns="0" bIns="0" rtlCol="0" anchor="t"/>
          <a:lstStyle/>
          <a:p>
            <a:pPr indent="0" marL="0">
              <a:buNone/>
            </a:pPr>
            <a:r>
              <a:rPr lang="en-US" sz="1400" dirty="0">
                <a:solidFill>
                  <a:schemeClr val="tx1"/>
                </a:solidFill>
              </a:rPr>
              <a:t>La web espera sin reenviar</a:t>
            </a:r>
            <a:endParaRPr lang="en-US" sz="1400" dirty="0"/>
          </a:p>
        </p:txBody>
      </p:sp>
      <p:sp>
        <p:nvSpPr>
          <p:cNvPr id="36" name="nota-pruebas"/>
          <p:cNvSpPr txBox="1"/>
          <p:nvPr/>
        </p:nvSpPr>
        <p:spPr>
          <a:xfrm>
            <a:off x="777240" y="5349240"/>
            <a:ext cx="9326880" cy="548640"/>
          </a:xfrm>
          <a:prstGeom prst="rect">
            <a:avLst/>
          </a:prstGeom>
          <a:noFill/>
          <a:ln/>
        </p:spPr>
        <p:txBody>
          <a:bodyPr wrap="square" lIns="0" tIns="0" rIns="0" bIns="0" rtlCol="0" anchor="t"/>
          <a:lstStyle/>
          <a:p>
            <a:pPr indent="0" marL="0">
              <a:buNone/>
            </a:pPr>
            <a:r>
              <a:rPr lang="en-US" sz="1300" i="1" dirty="0">
                <a:solidFill>
                  <a:schemeClr val="accent6"/>
                </a:solidFill>
              </a:rPr>
              <a:t>Primero en condiciones normales y después provocando fallos a propósito. 27 de octubre de 2026, región us-east-2.</a:t>
            </a:r>
            <a:endParaRPr lang="en-US" sz="13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Mínimo privilegio</a:t>
            </a:r>
            <a:endParaRPr lang="en-US" sz="3600" dirty="0"/>
          </a:p>
        </p:txBody>
      </p:sp>
      <p:pic>
        <p:nvPicPr>
          <p:cNvPr id="3" name="onda-tr" descr="Decoración">    </p:cNvPr>
          <p:cNvPicPr>
            <a:picLocks noChangeAspect="1"/>
          </p:cNvPicPr>
          <p:nvPr/>
        </p:nvPicPr>
        <p:blipFill>
          <a:blip r:embed="rId1"/>
          <a:stretch>
            <a:fillRect/>
          </a:stretch>
        </p:blipFill>
        <p:spPr>
          <a:xfrm>
            <a:off x="10454335" y="0"/>
            <a:ext cx="1737360" cy="1737360"/>
          </a:xfrm>
          <a:prstGeom prst="rect">
            <a:avLst/>
          </a:prstGeom>
        </p:spPr>
      </p:pic>
      <p:sp>
        <p:nvSpPr>
          <p:cNvPr id="4" name="subtitulo"/>
          <p:cNvSpPr txBox="1"/>
          <p:nvPr/>
        </p:nvSpPr>
        <p:spPr>
          <a:xfrm>
            <a:off x="777240" y="1371600"/>
            <a:ext cx="9144000" cy="411480"/>
          </a:xfrm>
          <a:prstGeom prst="rect">
            <a:avLst/>
          </a:prstGeom>
          <a:noFill/>
          <a:ln/>
        </p:spPr>
        <p:txBody>
          <a:bodyPr wrap="square" lIns="0" tIns="0" rIns="0" bIns="0" rtlCol="0" anchor="ctr"/>
          <a:lstStyle/>
          <a:p>
            <a:pPr indent="0" marL="0">
              <a:buNone/>
            </a:pPr>
            <a:r>
              <a:rPr lang="en-US" sz="1600" dirty="0">
                <a:solidFill>
                  <a:schemeClr val="tx2"/>
                </a:solidFill>
              </a:rPr>
              <a:t>La procesadora tiene su propio rol, solo con lo que usa</a:t>
            </a:r>
            <a:endParaRPr lang="en-US" sz="1600" dirty="0"/>
          </a:p>
        </p:txBody>
      </p:sp>
      <p:graphicFrame>
        <p:nvGraphicFramePr>
          <p:cNvPr id="18" name="tabla-permisos"/>
          <p:cNvGraphicFramePr>
            <a:graphicFrameLocks noGrp="1"/>
          </p:cNvGraphicFramePr>
          <p:nvPr>
            <p:extLst>
              <p:ext uri="{D42A27DB-BD31-4B8C-83A1-F6EECF244321}">
                <p14:modId xmlns:p14="http://schemas.microsoft.com/office/powerpoint/2010/main" val="1579011935"/>
              </p:ext>
            </p:extLst>
          </p:nvPr>
        </p:nvGraphicFramePr>
        <p:xfrm>
          <a:off x="777240" y="1965960"/>
          <a:ext cx="5486400" cy="914400"/>
        </p:xfrm>
        <a:graphic>
          <a:graphicData uri="http://schemas.openxmlformats.org/drawingml/2006/table">
            <a:tbl>
              <a:tblPr/>
              <a:tblGrid>
                <a:gridCol w="3200400"/>
                <a:gridCol w="2286000"/>
              </a:tblGrid>
              <a:tr h="502920">
                <a:tc>
                  <a:txBody>
                    <a:bodyPr/>
                    <a:lstStyle/>
                    <a:p>
                      <a:pPr indent="0" marL="0">
                        <a:buNone/>
                      </a:pPr>
                      <a:r>
                        <a:rPr lang="en-US" sz="1400" b="1" dirty="0">
                          <a:solidFill>
                            <a:schemeClr val="bg1"/>
                          </a:solidFill>
                          <a:latin typeface="Arial" pitchFamily="34" charset="0"/>
                          <a:ea typeface="Arial" pitchFamily="34" charset="-122"/>
                          <a:cs typeface="Arial" pitchFamily="34" charset="-120"/>
                        </a:rPr>
                        <a:t>Puede</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Sobre</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accent1"/>
                    </a:solidFill>
                  </a:tcPr>
                </a:tc>
              </a:tr>
              <a:tr h="502920">
                <a:tc>
                  <a:txBody>
                    <a:bodyPr/>
                    <a:lstStyle/>
                    <a:p>
                      <a:pPr indent="0" marL="0">
                        <a:buNone/>
                      </a:pPr>
                      <a:r>
                        <a:rPr lang="en-US" sz="1400" dirty="0">
                          <a:solidFill>
                            <a:schemeClr val="tx1"/>
                          </a:solidFill>
                          <a:latin typeface="Arial" pitchFamily="34" charset="0"/>
                          <a:ea typeface="Arial" pitchFamily="34" charset="-122"/>
                          <a:cs typeface="Arial" pitchFamily="34" charset="-120"/>
                        </a:rPr>
                        <a:t>✓  Leer pendientes</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S3 · pendientes/*</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Arial" pitchFamily="34" charset="0"/>
                          <a:ea typeface="Arial" pitchFamily="34" charset="-122"/>
                          <a:cs typeface="Arial" pitchFamily="34" charset="-120"/>
                        </a:rPr>
                        <a:t>✓  Guardar noticias</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DynamoDB · PutItem</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latin typeface="Arial" pitchFamily="34" charset="0"/>
                          <a:ea typeface="Arial" pitchFamily="34" charset="-122"/>
                          <a:cs typeface="Arial" pitchFamily="34" charset="-120"/>
                        </a:rPr>
                        <a:t>✓  Escribir sus logs</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Solo su grupo de logs</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accent4"/>
                          </a:solidFill>
                          <a:latin typeface="Arial" pitchFamily="34" charset="0"/>
                          <a:ea typeface="Arial" pitchFamily="34" charset="-122"/>
                          <a:cs typeface="Arial" pitchFamily="34" charset="-120"/>
                        </a:rPr>
                        <a:t>✗  Borrar o recorrer la tabla</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accent4"/>
                          </a:solidFill>
                          <a:latin typeface="Arial" pitchFamily="34" charset="0"/>
                          <a:ea typeface="Arial" pitchFamily="34" charset="-122"/>
                          <a:cs typeface="Arial" pitchFamily="34" charset="-120"/>
                        </a:rPr>
                        <a:t>✗  Leer imágenes del bucket</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3152" marR="73152" marT="73152" marB="73152" anchor="ctr">
                    <a:lnL w="12700" cap="flat" cmpd="sng" algn="ctr">
                      <a:solidFill>
                        <a:srgbClr val="D9AE5F"/>
                      </a:solidFill>
                      <a:prstDash val="solid"/>
                      <a:round/>
                      <a:headEnd type="none" w="med" len="med"/>
                      <a:tailEnd type="none" w="med" len="med"/>
                    </a:lnL>
                    <a:lnR w="12700" cap="flat" cmpd="sng" algn="ctr">
                      <a:solidFill>
                        <a:srgbClr val="D9AE5F"/>
                      </a:solidFill>
                      <a:prstDash val="solid"/>
                      <a:round/>
                      <a:headEnd type="none" w="med" len="med"/>
                      <a:tailEnd type="none" w="med" len="med"/>
                    </a:lnR>
                    <a:lnT w="12700" cap="flat" cmpd="sng" algn="ctr">
                      <a:solidFill>
                        <a:srgbClr val="D9AE5F"/>
                      </a:solidFill>
                      <a:prstDash val="solid"/>
                      <a:round/>
                      <a:headEnd type="none" w="med" len="med"/>
                      <a:tailEnd type="none" w="med" len="med"/>
                    </a:lnT>
                    <a:lnB w="12700" cap="flat" cmpd="sng" algn="ctr">
                      <a:solidFill>
                        <a:srgbClr val="D9AE5F"/>
                      </a:solidFill>
                      <a:prstDash val="solid"/>
                      <a:round/>
                      <a:headEnd type="none" w="med" len="med"/>
                      <a:tailEnd type="none" w="med" len="med"/>
                    </a:lnB>
                    <a:solidFill>
                      <a:schemeClr val="bg1"/>
                    </a:solidFill>
                  </a:tcPr>
                </a:tc>
              </a:tr>
            </a:tbl>
          </a:graphicData>
        </a:graphic>
      </p:graphicFrame>
      <p:sp>
        <p:nvSpPr>
          <p:cNvPr id="6" name="marco-rol.png"/>
          <p:cNvSpPr/>
          <p:nvPr/>
        </p:nvSpPr>
        <p:spPr>
          <a:xfrm>
            <a:off x="6620256" y="1911096"/>
            <a:ext cx="4818888" cy="1930027"/>
          </a:xfrm>
          <a:prstGeom prst="rect">
            <a:avLst/>
          </a:prstGeom>
          <a:solidFill>
            <a:schemeClr val="accent1"/>
          </a:solidFill>
          <a:ln/>
        </p:spPr>
      </p:sp>
      <p:pic>
        <p:nvPicPr>
          <p:cNvPr id="7" name="img-rol.png" descr="Rol procesar-imagen-noticia-rol con la política ProcesadoraMinimoPrivilegio">    </p:cNvPr>
          <p:cNvPicPr>
            <a:picLocks noChangeAspect="1"/>
          </p:cNvPicPr>
          <p:nvPr/>
        </p:nvPicPr>
        <p:blipFill>
          <a:blip r:embed="rId2"/>
          <a:stretch>
            <a:fillRect/>
          </a:stretch>
        </p:blipFill>
        <p:spPr>
          <a:xfrm>
            <a:off x="6675120" y="1965960"/>
            <a:ext cx="4709160" cy="1820299"/>
          </a:xfrm>
          <a:prstGeom prst="rect">
            <a:avLst/>
          </a:prstGeom>
        </p:spPr>
      </p:pic>
      <p:sp>
        <p:nvSpPr>
          <p:cNvPr id="8" name="nota-seguridad"/>
          <p:cNvSpPr txBox="1"/>
          <p:nvPr/>
        </p:nvSpPr>
        <p:spPr>
          <a:xfrm>
            <a:off x="6675120" y="4114800"/>
            <a:ext cx="4709160" cy="868680"/>
          </a:xfrm>
          <a:prstGeom prst="rect">
            <a:avLst/>
          </a:prstGeom>
          <a:noFill/>
          <a:ln/>
        </p:spPr>
        <p:txBody>
          <a:bodyPr wrap="square" lIns="0" tIns="0" rIns="0" bIns="0" rtlCol="0" anchor="t"/>
          <a:lstStyle/>
          <a:p>
            <a:pPr indent="0" marL="0">
              <a:buNone/>
            </a:pPr>
            <a:r>
              <a:rPr lang="en-US" sz="1300" dirty="0">
                <a:solidFill>
                  <a:schemeClr val="tx1"/>
                </a:solidFill>
              </a:rPr>
              <a:t>Validador de IAM: 0 errores, 0 advertencias. Con el rol nuevo repetimos los casos de imagen sin datos y evento repetido. Las otras tres Lambdas siguen con PowerUserRole: pendiente para un entorno real.</a:t>
            </a:r>
            <a:endParaRPr lang="en-US" sz="13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Costos y limpieza</a:t>
            </a:r>
            <a:endParaRPr lang="en-US" sz="3600" dirty="0"/>
          </a:p>
        </p:txBody>
      </p:sp>
      <p:pic>
        <p:nvPicPr>
          <p:cNvPr id="3" name="onda-bl" descr="Decoración">    </p:cNvPr>
          <p:cNvPicPr>
            <a:picLocks noChangeAspect="1"/>
          </p:cNvPicPr>
          <p:nvPr/>
        </p:nvPicPr>
        <p:blipFill>
          <a:blip r:embed="rId1"/>
          <a:stretch>
            <a:fillRect/>
          </a:stretch>
        </p:blipFill>
        <p:spPr>
          <a:xfrm>
            <a:off x="0" y="5120640"/>
            <a:ext cx="1737360" cy="1737360"/>
          </a:xfrm>
          <a:prstGeom prst="rect">
            <a:avLst/>
          </a:prstGeom>
        </p:spPr>
      </p:pic>
      <p:sp>
        <p:nvSpPr>
          <p:cNvPr id="4" name="costo"/>
          <p:cNvSpPr txBox="1"/>
          <p:nvPr/>
        </p:nvSpPr>
        <p:spPr>
          <a:xfrm>
            <a:off x="777240" y="1600200"/>
            <a:ext cx="5669280" cy="1325880"/>
          </a:xfrm>
          <a:prstGeom prst="rect">
            <a:avLst/>
          </a:prstGeom>
          <a:noFill/>
          <a:ln/>
        </p:spPr>
        <p:txBody>
          <a:bodyPr wrap="square" lIns="0" tIns="0" rIns="0" bIns="0" rtlCol="0" anchor="ctr"/>
          <a:lstStyle/>
          <a:p>
            <a:pPr indent="0" marL="0">
              <a:buNone/>
            </a:pPr>
            <a:r>
              <a:rPr lang="en-US" sz="5400" b="1" dirty="0">
                <a:solidFill>
                  <a:schemeClr val="accent1"/>
                </a:solidFill>
              </a:rPr>
              <a:t>0,00 USD</a:t>
            </a:r>
            <a:endParaRPr lang="en-US" sz="5400" dirty="0"/>
          </a:p>
          <a:p>
            <a:pPr indent="0" marL="0">
              <a:buNone/>
            </a:pPr>
            <a:r>
              <a:rPr lang="en-US" sz="1500" dirty="0">
                <a:solidFill>
                  <a:schemeClr val="tx1"/>
                </a:solidFill>
              </a:rPr>
              <a:t>de gasto en el mes · saldo 120,00 → 120,00 USD</a:t>
            </a:r>
            <a:endParaRPr lang="en-US" sz="5400" dirty="0"/>
          </a:p>
        </p:txBody>
      </p:sp>
      <p:sp>
        <p:nvSpPr>
          <p:cNvPr id="5" name="marco-saldo.png"/>
          <p:cNvSpPr/>
          <p:nvPr/>
        </p:nvSpPr>
        <p:spPr>
          <a:xfrm>
            <a:off x="722376" y="3099816"/>
            <a:ext cx="5596128" cy="1362889"/>
          </a:xfrm>
          <a:prstGeom prst="rect">
            <a:avLst/>
          </a:prstGeom>
          <a:solidFill>
            <a:schemeClr val="accent1"/>
          </a:solidFill>
          <a:ln/>
        </p:spPr>
      </p:sp>
      <p:pic>
        <p:nvPicPr>
          <p:cNvPr id="6" name="img-saldo.png" descr="Saldo final de la cuenta">    </p:cNvPr>
          <p:cNvPicPr>
            <a:picLocks noChangeAspect="1"/>
          </p:cNvPicPr>
          <p:nvPr/>
        </p:nvPicPr>
        <p:blipFill>
          <a:blip r:embed="rId2"/>
          <a:stretch>
            <a:fillRect/>
          </a:stretch>
        </p:blipFill>
        <p:spPr>
          <a:xfrm>
            <a:off x="777240" y="3154680"/>
            <a:ext cx="5486400" cy="1253161"/>
          </a:xfrm>
          <a:prstGeom prst="rect">
            <a:avLst/>
          </a:prstGeom>
        </p:spPr>
      </p:pic>
      <p:sp>
        <p:nvSpPr>
          <p:cNvPr id="7" name="texto"/>
          <p:cNvSpPr txBox="1"/>
          <p:nvPr/>
        </p:nvSpPr>
        <p:spPr>
          <a:xfrm>
            <a:off x="777240" y="4709160"/>
            <a:ext cx="5577840" cy="1463040"/>
          </a:xfrm>
          <a:prstGeom prst="rect">
            <a:avLst/>
          </a:prstGeom>
          <a:noFill/>
          <a:ln/>
        </p:spPr>
        <p:txBody>
          <a:bodyPr wrap="square" lIns="0" tIns="0" rIns="0" bIns="0" rtlCol="0" anchor="t"/>
          <a:lstStyle/>
          <a:p>
            <a:pPr algn="l" marL="228600" indent="-228600">
              <a:lnSpc>
                <a:spcPct val="110000"/>
              </a:lnSpc>
              <a:spcAft>
                <a:spcPts val="600"/>
              </a:spcAft>
              <a:buSzPct val="100000"/>
              <a:buChar char="•"/>
            </a:pPr>
            <a:r>
              <a:rPr lang="en-US" sz="1400" dirty="0">
                <a:solidFill>
                  <a:schemeClr val="tx1"/>
                </a:solidFill>
              </a:rPr>
              <a:t>Todo dentro del nivel gratuito: Lambda, S3, DynamoDB bajo demanda y CloudWatch.</a:t>
            </a:r>
            <a:endParaRPr lang="en-US" sz="1400" dirty="0"/>
          </a:p>
          <a:p>
            <a:pPr algn="l" marL="228600" indent="-228600">
              <a:lnSpc>
                <a:spcPct val="110000"/>
              </a:lnSpc>
              <a:spcAft>
                <a:spcPts val="600"/>
              </a:spcAft>
              <a:buSzPct val="100000"/>
              <a:buChar char="•"/>
            </a:pPr>
            <a:r>
              <a:rPr lang="en-US" sz="1400" dirty="0">
                <a:solidFill>
                  <a:schemeClr val="tx1"/>
                </a:solidFill>
              </a:rPr>
              <a:t>Logs con retención de 3 días, sin SMS, sin colas ni servidores permanentes.</a:t>
            </a:r>
            <a:endParaRPr lang="en-US" sz="1400" dirty="0"/>
          </a:p>
          <a:p>
            <a:pPr algn="l" marL="228600" indent="-228600">
              <a:lnSpc>
                <a:spcPct val="110000"/>
              </a:lnSpc>
              <a:spcAft>
                <a:spcPts val="600"/>
              </a:spcAft>
              <a:buSzPct val="100000"/>
              <a:buChar char="•"/>
            </a:pPr>
            <a:r>
              <a:rPr lang="en-US" sz="1400" dirty="0">
                <a:solidFill>
                  <a:schemeClr val="tx1"/>
                </a:solidFill>
              </a:rPr>
              <a:t>Recursos etiquetados: proyecto=NoticiasAWS, equipo=3, entorno=Laboratorio.</a:t>
            </a:r>
            <a:endParaRPr lang="en-US" sz="1400" dirty="0"/>
          </a:p>
        </p:txBody>
      </p:sp>
      <p:sp>
        <p:nvSpPr>
          <p:cNvPr id="8" name="limpieza-fondo"/>
          <p:cNvSpPr/>
          <p:nvPr/>
        </p:nvSpPr>
        <p:spPr>
          <a:xfrm>
            <a:off x="6812280" y="1691640"/>
            <a:ext cx="4572000" cy="4434840"/>
          </a:xfrm>
          <a:prstGeom prst="rect">
            <a:avLst/>
          </a:prstGeom>
          <a:solidFill>
            <a:schemeClr val="bg1"/>
          </a:solidFill>
          <a:ln w="19050">
            <a:solidFill>
              <a:schemeClr val="accent2"/>
            </a:solidFill>
            <a:prstDash val="solid"/>
          </a:ln>
        </p:spPr>
      </p:sp>
      <p:sp>
        <p:nvSpPr>
          <p:cNvPr id="9" name="limpieza-titulo"/>
          <p:cNvSpPr txBox="1"/>
          <p:nvPr/>
        </p:nvSpPr>
        <p:spPr>
          <a:xfrm>
            <a:off x="7086600" y="1874520"/>
            <a:ext cx="4114800" cy="457200"/>
          </a:xfrm>
          <a:prstGeom prst="rect">
            <a:avLst/>
          </a:prstGeom>
          <a:noFill/>
          <a:ln/>
        </p:spPr>
        <p:txBody>
          <a:bodyPr wrap="square" lIns="0" tIns="0" rIns="0" bIns="0" rtlCol="0" anchor="ctr"/>
          <a:lstStyle/>
          <a:p>
            <a:pPr indent="0" marL="0">
              <a:buNone/>
            </a:pPr>
            <a:r>
              <a:rPr lang="en-US" sz="1700" b="1" dirty="0">
                <a:solidFill>
                  <a:schemeClr val="tx1"/>
                </a:solidFill>
              </a:rPr>
              <a:t>Al cerrar el curso eliminamos</a:t>
            </a:r>
            <a:endParaRPr lang="en-US" sz="1700" dirty="0"/>
          </a:p>
        </p:txBody>
      </p:sp>
      <p:sp>
        <p:nvSpPr>
          <p:cNvPr id="10" name="num-1"/>
          <p:cNvSpPr txBox="1"/>
          <p:nvPr/>
        </p:nvSpPr>
        <p:spPr>
          <a:xfrm>
            <a:off x="7086600" y="2487168"/>
            <a:ext cx="365760" cy="365760"/>
          </a:xfrm>
          <a:prstGeom prst="rect">
            <a:avLst/>
          </a:prstGeom>
          <a:solidFill>
            <a:schemeClr val="accent2"/>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1" name="limpieza-1"/>
          <p:cNvSpPr txBox="1"/>
          <p:nvPr/>
        </p:nvSpPr>
        <p:spPr>
          <a:xfrm>
            <a:off x="7589520" y="2487168"/>
            <a:ext cx="3657600" cy="365760"/>
          </a:xfrm>
          <a:prstGeom prst="rect">
            <a:avLst/>
          </a:prstGeom>
          <a:noFill/>
          <a:ln/>
        </p:spPr>
        <p:txBody>
          <a:bodyPr wrap="square" lIns="0" tIns="0" rIns="0" bIns="0" rtlCol="0" anchor="ctr"/>
          <a:lstStyle/>
          <a:p>
            <a:pPr indent="0" marL="0">
              <a:buNone/>
            </a:pPr>
            <a:r>
              <a:rPr lang="en-US" sz="1400" dirty="0">
                <a:solidFill>
                  <a:schemeClr val="tx1"/>
                </a:solidFill>
              </a:rPr>
              <a:t>Disparador S3</a:t>
            </a:r>
            <a:endParaRPr lang="en-US" sz="1400" dirty="0"/>
          </a:p>
        </p:txBody>
      </p:sp>
      <p:sp>
        <p:nvSpPr>
          <p:cNvPr id="12" name="num-2"/>
          <p:cNvSpPr txBox="1"/>
          <p:nvPr/>
        </p:nvSpPr>
        <p:spPr>
          <a:xfrm>
            <a:off x="7086600" y="2990088"/>
            <a:ext cx="365760" cy="365760"/>
          </a:xfrm>
          <a:prstGeom prst="rect">
            <a:avLst/>
          </a:prstGeom>
          <a:solidFill>
            <a:schemeClr val="accent2"/>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limpieza-2"/>
          <p:cNvSpPr txBox="1"/>
          <p:nvPr/>
        </p:nvSpPr>
        <p:spPr>
          <a:xfrm>
            <a:off x="7589520" y="2990088"/>
            <a:ext cx="3657600" cy="365760"/>
          </a:xfrm>
          <a:prstGeom prst="rect">
            <a:avLst/>
          </a:prstGeom>
          <a:noFill/>
          <a:ln/>
        </p:spPr>
        <p:txBody>
          <a:bodyPr wrap="square" lIns="0" tIns="0" rIns="0" bIns="0" rtlCol="0" anchor="ctr"/>
          <a:lstStyle/>
          <a:p>
            <a:pPr indent="0" marL="0">
              <a:buNone/>
            </a:pPr>
            <a:r>
              <a:rPr lang="en-US" sz="1400" dirty="0">
                <a:solidFill>
                  <a:schemeClr val="tx1"/>
                </a:solidFill>
              </a:rPr>
              <a:t>Lambda procesar-imagen-noticia</a:t>
            </a:r>
            <a:endParaRPr lang="en-US" sz="1400" dirty="0"/>
          </a:p>
        </p:txBody>
      </p:sp>
      <p:sp>
        <p:nvSpPr>
          <p:cNvPr id="14" name="num-3"/>
          <p:cNvSpPr txBox="1"/>
          <p:nvPr/>
        </p:nvSpPr>
        <p:spPr>
          <a:xfrm>
            <a:off x="7086600" y="3493008"/>
            <a:ext cx="365760" cy="365760"/>
          </a:xfrm>
          <a:prstGeom prst="rect">
            <a:avLst/>
          </a:prstGeom>
          <a:solidFill>
            <a:schemeClr val="accent2"/>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limpieza-3"/>
          <p:cNvSpPr txBox="1"/>
          <p:nvPr/>
        </p:nvSpPr>
        <p:spPr>
          <a:xfrm>
            <a:off x="7589520" y="3493008"/>
            <a:ext cx="3657600" cy="365760"/>
          </a:xfrm>
          <a:prstGeom prst="rect">
            <a:avLst/>
          </a:prstGeom>
          <a:noFill/>
          <a:ln/>
        </p:spPr>
        <p:txBody>
          <a:bodyPr wrap="square" lIns="0" tIns="0" rIns="0" bIns="0" rtlCol="0" anchor="ctr"/>
          <a:lstStyle/>
          <a:p>
            <a:pPr indent="0" marL="0">
              <a:buNone/>
            </a:pPr>
            <a:r>
              <a:rPr lang="en-US" sz="1400" dirty="0">
                <a:solidFill>
                  <a:schemeClr val="tx1"/>
                </a:solidFill>
              </a:rPr>
              <a:t>Rol procesar-imagen-noticia-rol</a:t>
            </a:r>
            <a:endParaRPr lang="en-US" sz="1400" dirty="0"/>
          </a:p>
        </p:txBody>
      </p:sp>
      <p:sp>
        <p:nvSpPr>
          <p:cNvPr id="16" name="num-4"/>
          <p:cNvSpPr txBox="1"/>
          <p:nvPr/>
        </p:nvSpPr>
        <p:spPr>
          <a:xfrm>
            <a:off x="7086600" y="3995928"/>
            <a:ext cx="365760" cy="365760"/>
          </a:xfrm>
          <a:prstGeom prst="rect">
            <a:avLst/>
          </a:prstGeom>
          <a:solidFill>
            <a:schemeClr val="accent2"/>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7" name="limpieza-4"/>
          <p:cNvSpPr txBox="1"/>
          <p:nvPr/>
        </p:nvSpPr>
        <p:spPr>
          <a:xfrm>
            <a:off x="7589520" y="3995928"/>
            <a:ext cx="3657600" cy="365760"/>
          </a:xfrm>
          <a:prstGeom prst="rect">
            <a:avLst/>
          </a:prstGeom>
          <a:noFill/>
          <a:ln/>
        </p:spPr>
        <p:txBody>
          <a:bodyPr wrap="square" lIns="0" tIns="0" rIns="0" bIns="0" rtlCol="0" anchor="ctr"/>
          <a:lstStyle/>
          <a:p>
            <a:pPr indent="0" marL="0">
              <a:buNone/>
            </a:pPr>
            <a:r>
              <a:rPr lang="en-US" sz="1400" dirty="0">
                <a:solidFill>
                  <a:schemeClr val="tx1"/>
                </a:solidFill>
              </a:rPr>
              <a:t>Alarma gaceta-procesadora-errores</a:t>
            </a:r>
            <a:endParaRPr lang="en-US" sz="1400" dirty="0"/>
          </a:p>
        </p:txBody>
      </p:sp>
      <p:sp>
        <p:nvSpPr>
          <p:cNvPr id="18" name="num-5"/>
          <p:cNvSpPr txBox="1"/>
          <p:nvPr/>
        </p:nvSpPr>
        <p:spPr>
          <a:xfrm>
            <a:off x="7086600" y="4498848"/>
            <a:ext cx="365760" cy="365760"/>
          </a:xfrm>
          <a:prstGeom prst="rect">
            <a:avLst/>
          </a:prstGeom>
          <a:solidFill>
            <a:schemeClr val="accent2"/>
          </a:solid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9" name="limpieza-5"/>
          <p:cNvSpPr txBox="1"/>
          <p:nvPr/>
        </p:nvSpPr>
        <p:spPr>
          <a:xfrm>
            <a:off x="7589520" y="4498848"/>
            <a:ext cx="3657600" cy="365760"/>
          </a:xfrm>
          <a:prstGeom prst="rect">
            <a:avLst/>
          </a:prstGeom>
          <a:noFill/>
          <a:ln/>
        </p:spPr>
        <p:txBody>
          <a:bodyPr wrap="square" lIns="0" tIns="0" rIns="0" bIns="0" rtlCol="0" anchor="ctr"/>
          <a:lstStyle/>
          <a:p>
            <a:pPr indent="0" marL="0">
              <a:buNone/>
            </a:pPr>
            <a:r>
              <a:rPr lang="en-US" sz="1400" dirty="0">
                <a:solidFill>
                  <a:schemeClr val="tx1"/>
                </a:solidFill>
              </a:rPr>
              <a:t>Grupo de logs de la procesadora</a:t>
            </a:r>
            <a:endParaRPr lang="en-US" sz="1400" dirty="0"/>
          </a:p>
        </p:txBody>
      </p:sp>
      <p:sp>
        <p:nvSpPr>
          <p:cNvPr id="20" name="num-6"/>
          <p:cNvSpPr txBox="1"/>
          <p:nvPr/>
        </p:nvSpPr>
        <p:spPr>
          <a:xfrm>
            <a:off x="7086600" y="5001768"/>
            <a:ext cx="365760" cy="365760"/>
          </a:xfrm>
          <a:prstGeom prst="rect">
            <a:avLst/>
          </a:prstGeom>
          <a:solidFill>
            <a:schemeClr val="accent2"/>
          </a:solid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21" name="limpieza-6"/>
          <p:cNvSpPr txBox="1"/>
          <p:nvPr/>
        </p:nvSpPr>
        <p:spPr>
          <a:xfrm>
            <a:off x="7589520" y="5001768"/>
            <a:ext cx="3657600" cy="365760"/>
          </a:xfrm>
          <a:prstGeom prst="rect">
            <a:avLst/>
          </a:prstGeom>
          <a:noFill/>
          <a:ln/>
        </p:spPr>
        <p:txBody>
          <a:bodyPr wrap="square" lIns="0" tIns="0" rIns="0" bIns="0" rtlCol="0" anchor="ctr"/>
          <a:lstStyle/>
          <a:p>
            <a:pPr indent="0" marL="0">
              <a:buNone/>
            </a:pPr>
            <a:r>
              <a:rPr lang="en-US" sz="1400" dirty="0">
                <a:solidFill>
                  <a:schemeClr val="tx1"/>
                </a:solidFill>
              </a:rPr>
              <a:t>Objetos pendientes/ e imágenes de prueba</a:t>
            </a:r>
            <a:endParaRPr lang="en-US" sz="1400" dirty="0"/>
          </a:p>
        </p:txBody>
      </p:sp>
      <p:sp>
        <p:nvSpPr>
          <p:cNvPr id="22" name="num-7"/>
          <p:cNvSpPr txBox="1"/>
          <p:nvPr/>
        </p:nvSpPr>
        <p:spPr>
          <a:xfrm>
            <a:off x="7086600" y="5504688"/>
            <a:ext cx="365760" cy="365760"/>
          </a:xfrm>
          <a:prstGeom prst="rect">
            <a:avLst/>
          </a:prstGeom>
          <a:solidFill>
            <a:schemeClr val="accent2"/>
          </a:solidFill>
          <a:ln/>
        </p:spPr>
        <p:txBody>
          <a:bodyPr wrap="square" lIns="0" tIns="0" rIns="0" bIns="0" rtlCol="0" anchor="ctr"/>
          <a:lstStyle/>
          <a:p>
            <a:pPr algn="ctr" indent="0" marL="0">
              <a:buNone/>
            </a:pPr>
            <a:r>
              <a:rPr lang="en-US" sz="1600" b="1" dirty="0">
                <a:solidFill>
                  <a:schemeClr val="tx1"/>
                </a:solidFill>
              </a:rPr>
              <a:t>7</a:t>
            </a:r>
            <a:endParaRPr lang="en-US" sz="1600" dirty="0"/>
          </a:p>
        </p:txBody>
      </p:sp>
      <p:sp>
        <p:nvSpPr>
          <p:cNvPr id="23" name="limpieza-7"/>
          <p:cNvSpPr txBox="1"/>
          <p:nvPr/>
        </p:nvSpPr>
        <p:spPr>
          <a:xfrm>
            <a:off x="7589520" y="5504688"/>
            <a:ext cx="3657600" cy="365760"/>
          </a:xfrm>
          <a:prstGeom prst="rect">
            <a:avLst/>
          </a:prstGeom>
          <a:noFill/>
          <a:ln/>
        </p:spPr>
        <p:txBody>
          <a:bodyPr wrap="square" lIns="0" tIns="0" rIns="0" bIns="0" rtlCol="0" anchor="ctr"/>
          <a:lstStyle/>
          <a:p>
            <a:pPr indent="0" marL="0">
              <a:buNone/>
            </a:pPr>
            <a:r>
              <a:rPr lang="en-US" sz="1400" dirty="0">
                <a:solidFill>
                  <a:schemeClr val="tx1"/>
                </a:solidFill>
              </a:rPr>
              <a:t>Noticias de prueba de la tabla</a:t>
            </a:r>
            <a:endParaRPr lang="en-US" sz="14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777240" y="548640"/>
            <a:ext cx="8778240" cy="868680"/>
          </a:xfrm>
          <a:prstGeom prst="rect">
            <a:avLst/>
          </a:prstGeom>
          <a:noFill/>
          <a:ln/>
        </p:spPr>
        <p:txBody>
          <a:bodyPr wrap="square" lIns="0" tIns="0" rIns="0" bIns="0" rtlCol="0" anchor="ctr"/>
          <a:lstStyle/>
          <a:p>
            <a:pPr algn="l" indent="0" marL="0">
              <a:buNone/>
            </a:pPr>
            <a:r>
              <a:rPr lang="en-US" sz="3600" b="1" dirty="0">
                <a:solidFill>
                  <a:schemeClr val="tx1"/>
                </a:solidFill>
              </a:rPr>
              <a:t>Lo que aprendimos</a:t>
            </a:r>
            <a:endParaRPr lang="en-US" sz="3600" dirty="0"/>
          </a:p>
        </p:txBody>
      </p:sp>
      <p:pic>
        <p:nvPicPr>
          <p:cNvPr id="3" name="onda-tr" descr="Decoración">    </p:cNvPr>
          <p:cNvPicPr>
            <a:picLocks noChangeAspect="1"/>
          </p:cNvPicPr>
          <p:nvPr/>
        </p:nvPicPr>
        <p:blipFill>
          <a:blip r:embed="rId1"/>
          <a:stretch>
            <a:fillRect/>
          </a:stretch>
        </p:blipFill>
        <p:spPr>
          <a:xfrm>
            <a:off x="10180015" y="0"/>
            <a:ext cx="2011680" cy="2011680"/>
          </a:xfrm>
          <a:prstGeom prst="rect">
            <a:avLst/>
          </a:prstGeom>
        </p:spPr>
      </p:pic>
      <p:sp>
        <p:nvSpPr>
          <p:cNvPr id="4" name="marco-biblioteca.jpg"/>
          <p:cNvSpPr/>
          <p:nvPr/>
        </p:nvSpPr>
        <p:spPr>
          <a:xfrm>
            <a:off x="722376" y="1636776"/>
            <a:ext cx="4041648" cy="3058668"/>
          </a:xfrm>
          <a:prstGeom prst="rect">
            <a:avLst/>
          </a:prstGeom>
          <a:solidFill>
            <a:schemeClr val="accent1"/>
          </a:solidFill>
          <a:ln/>
        </p:spPr>
      </p:sp>
      <p:pic>
        <p:nvPicPr>
          <p:cNvPr id="5" name="img-biblioteca.jpg" descr="Biblioteca de la UNSIS">    </p:cNvPr>
          <p:cNvPicPr>
            <a:picLocks noChangeAspect="1"/>
          </p:cNvPicPr>
          <p:nvPr/>
        </p:nvPicPr>
        <p:blipFill>
          <a:blip r:embed="rId2"/>
          <a:stretch>
            <a:fillRect/>
          </a:stretch>
        </p:blipFill>
        <p:spPr>
          <a:xfrm>
            <a:off x="777240" y="1691640"/>
            <a:ext cx="3931920" cy="2948940"/>
          </a:xfrm>
          <a:prstGeom prst="rect">
            <a:avLst/>
          </a:prstGeom>
        </p:spPr>
      </p:pic>
      <p:sp>
        <p:nvSpPr>
          <p:cNvPr id="6" name="num-1"/>
          <p:cNvSpPr txBox="1"/>
          <p:nvPr/>
        </p:nvSpPr>
        <p:spPr>
          <a:xfrm>
            <a:off x="5257800" y="1783080"/>
            <a:ext cx="566928" cy="566928"/>
          </a:xfrm>
          <a:prstGeom prst="rect">
            <a:avLst/>
          </a:prstGeom>
          <a:solidFill>
            <a:schemeClr val="accent1"/>
          </a:solidFill>
          <a:ln/>
        </p:spPr>
        <p:txBody>
          <a:bodyPr wrap="square" lIns="0" tIns="0" rIns="0" bIns="0" rtlCol="0" anchor="ctr"/>
          <a:lstStyle/>
          <a:p>
            <a:pPr algn="ctr" indent="0" marL="0">
              <a:buNone/>
            </a:pPr>
            <a:r>
              <a:rPr lang="en-US" sz="2500" b="1" dirty="0">
                <a:solidFill>
                  <a:schemeClr val="bg1"/>
                </a:solidFill>
              </a:rPr>
              <a:t>1</a:t>
            </a:r>
            <a:endParaRPr lang="en-US" sz="2500" dirty="0"/>
          </a:p>
        </p:txBody>
      </p:sp>
      <p:sp>
        <p:nvSpPr>
          <p:cNvPr id="7" name="conclusion-1"/>
          <p:cNvSpPr txBox="1"/>
          <p:nvPr/>
        </p:nvSpPr>
        <p:spPr>
          <a:xfrm>
            <a:off x="6035040" y="1737360"/>
            <a:ext cx="5349240" cy="1691640"/>
          </a:xfrm>
          <a:prstGeom prst="rect">
            <a:avLst/>
          </a:prstGeom>
          <a:noFill/>
          <a:ln/>
        </p:spPr>
        <p:txBody>
          <a:bodyPr wrap="square" lIns="0" tIns="0" rIns="0" bIns="0" rtlCol="0" anchor="t"/>
          <a:lstStyle/>
          <a:p>
            <a:pPr indent="0" marL="0">
              <a:lnSpc>
                <a:spcPct val="110000"/>
              </a:lnSpc>
              <a:buNone/>
            </a:pPr>
            <a:r>
              <a:rPr lang="en-US" sz="1900" b="1" dirty="0">
                <a:solidFill>
                  <a:schemeClr val="tx1"/>
                </a:solidFill>
              </a:rPr>
              <a:t>Qué aporta</a:t>
            </a:r>
            <a:endParaRPr lang="en-US" sz="1900" dirty="0"/>
          </a:p>
          <a:p>
            <a:pPr indent="0" marL="0">
              <a:lnSpc>
                <a:spcPct val="110000"/>
              </a:lnSpc>
              <a:buNone/>
            </a:pPr>
            <a:r>
              <a:rPr lang="en-US" sz="1500" dirty="0">
                <a:solidFill>
                  <a:schemeClr val="tx1"/>
                </a:solidFill>
              </a:rPr>
              <a:t>La publicación ya no depende del navegador. Cada noticia deja rastro, los fallos se reintentan solos y una alarma avisa. Sabemos qué pasa, dónde y cuándo.</a:t>
            </a:r>
            <a:endParaRPr lang="en-US" sz="1900" dirty="0"/>
          </a:p>
        </p:txBody>
      </p:sp>
      <p:sp>
        <p:nvSpPr>
          <p:cNvPr id="8" name="num-2"/>
          <p:cNvSpPr txBox="1"/>
          <p:nvPr/>
        </p:nvSpPr>
        <p:spPr>
          <a:xfrm>
            <a:off x="5257800" y="3703320"/>
            <a:ext cx="566928" cy="566928"/>
          </a:xfrm>
          <a:prstGeom prst="rect">
            <a:avLst/>
          </a:prstGeom>
          <a:solidFill>
            <a:schemeClr val="accent1"/>
          </a:solidFill>
          <a:ln/>
        </p:spPr>
        <p:txBody>
          <a:bodyPr wrap="square" lIns="0" tIns="0" rIns="0" bIns="0" rtlCol="0" anchor="ctr"/>
          <a:lstStyle/>
          <a:p>
            <a:pPr algn="ctr" indent="0" marL="0">
              <a:buNone/>
            </a:pPr>
            <a:r>
              <a:rPr lang="en-US" sz="2500" b="1" dirty="0">
                <a:solidFill>
                  <a:schemeClr val="bg1"/>
                </a:solidFill>
              </a:rPr>
              <a:t>2</a:t>
            </a:r>
            <a:endParaRPr lang="en-US" sz="2500" dirty="0"/>
          </a:p>
        </p:txBody>
      </p:sp>
      <p:sp>
        <p:nvSpPr>
          <p:cNvPr id="9" name="conclusion-2"/>
          <p:cNvSpPr txBox="1"/>
          <p:nvPr/>
        </p:nvSpPr>
        <p:spPr>
          <a:xfrm>
            <a:off x="6035040" y="3657600"/>
            <a:ext cx="5349240" cy="1691640"/>
          </a:xfrm>
          <a:prstGeom prst="rect">
            <a:avLst/>
          </a:prstGeom>
          <a:noFill/>
          <a:ln/>
        </p:spPr>
        <p:txBody>
          <a:bodyPr wrap="square" lIns="0" tIns="0" rIns="0" bIns="0" rtlCol="0" anchor="t"/>
          <a:lstStyle/>
          <a:p>
            <a:pPr indent="0" marL="0">
              <a:lnSpc>
                <a:spcPct val="110000"/>
              </a:lnSpc>
              <a:buNone/>
            </a:pPr>
            <a:r>
              <a:rPr lang="en-US" sz="1900" b="1" dirty="0">
                <a:solidFill>
                  <a:schemeClr val="tx1"/>
                </a:solidFill>
              </a:rPr>
              <a:t>Qué faltaría en un entorno real</a:t>
            </a:r>
            <a:endParaRPr lang="en-US" sz="1900" dirty="0"/>
          </a:p>
          <a:p>
            <a:pPr indent="0" marL="0">
              <a:lnSpc>
                <a:spcPct val="110000"/>
              </a:lnSpc>
              <a:buNone/>
            </a:pPr>
            <a:r>
              <a:rPr lang="en-US" sz="1500" dirty="0">
                <a:solidFill>
                  <a:schemeClr val="tx1"/>
                </a:solidFill>
              </a:rPr>
              <a:t>Cola de mensajes fallidos (SQS/DLQ), aviso por correo de la alarma (SNS), caducidad automática de pendientes/ y un rol mínimo para cada Lambda.</a:t>
            </a:r>
            <a:endParaRPr lang="en-US" sz="1900" dirty="0"/>
          </a:p>
        </p:txBody>
      </p:sp>
      <p:sp>
        <p:nvSpPr>
          <p:cNvPr id="25" name="Slide Number Placeholder 0"/>
          <p:cNvSpPr>
            <a:spLocks noGrp="1"/>
          </p:cNvSpPr>
          <p:nvPr>
            <p:ph type="sldNum" sz="quarter" idx="4294967295"/>
          </p:nvPr>
        </p:nvSpPr>
        <p:spPr>
          <a:xfrm>
            <a:off x="5867248" y="623620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onda-tl" descr="Decoración">    </p:cNvPr>
          <p:cNvPicPr>
            <a:picLocks noChangeAspect="1"/>
          </p:cNvPicPr>
          <p:nvPr/>
        </p:nvPicPr>
        <p:blipFill>
          <a:blip r:embed="rId1"/>
          <a:stretch>
            <a:fillRect/>
          </a:stretch>
        </p:blipFill>
        <p:spPr>
          <a:xfrm>
            <a:off x="0" y="0"/>
            <a:ext cx="3017520" cy="3017520"/>
          </a:xfrm>
          <a:prstGeom prst="rect">
            <a:avLst/>
          </a:prstGeom>
        </p:spPr>
      </p:pic>
      <p:pic>
        <p:nvPicPr>
          <p:cNvPr id="3" name="onda-br" descr="Decoración">    </p:cNvPr>
          <p:cNvPicPr>
            <a:picLocks noChangeAspect="1"/>
          </p:cNvPicPr>
          <p:nvPr/>
        </p:nvPicPr>
        <p:blipFill>
          <a:blip r:embed="rId2"/>
          <a:stretch>
            <a:fillRect/>
          </a:stretch>
        </p:blipFill>
        <p:spPr>
          <a:xfrm>
            <a:off x="9174175" y="3840480"/>
            <a:ext cx="3017520" cy="3017520"/>
          </a:xfrm>
          <a:prstGeom prst="rect">
            <a:avLst/>
          </a:prstGeom>
        </p:spPr>
      </p:pic>
      <p:pic>
        <p:nvPicPr>
          <p:cNvPr id="4" name="gracias" descr="¡Gracias!">    </p:cNvPr>
          <p:cNvPicPr>
            <a:picLocks noChangeAspect="1"/>
          </p:cNvPicPr>
          <p:nvPr/>
        </p:nvPicPr>
        <p:blipFill>
          <a:blip r:embed="rId3"/>
          <a:stretch>
            <a:fillRect/>
          </a:stretch>
        </p:blipFill>
        <p:spPr>
          <a:xfrm>
            <a:off x="3992728" y="1554480"/>
            <a:ext cx="4206240" cy="1690179"/>
          </a:xfrm>
          <a:prstGeom prst="rect">
            <a:avLst/>
          </a:prstGeom>
        </p:spPr>
      </p:pic>
      <p:sp>
        <p:nvSpPr>
          <p:cNvPr id="5" name="preguntas"/>
          <p:cNvSpPr txBox="1"/>
          <p:nvPr/>
        </p:nvSpPr>
        <p:spPr>
          <a:xfrm>
            <a:off x="1371600" y="3337560"/>
            <a:ext cx="9448495" cy="1005840"/>
          </a:xfrm>
          <a:prstGeom prst="rect">
            <a:avLst/>
          </a:prstGeom>
          <a:noFill/>
          <a:ln/>
        </p:spPr>
        <p:txBody>
          <a:bodyPr wrap="square" lIns="0" tIns="0" rIns="0" bIns="0" rtlCol="0" anchor="ctr"/>
          <a:lstStyle/>
          <a:p>
            <a:pPr algn="ctr" indent="0" marL="0">
              <a:buNone/>
            </a:pPr>
            <a:r>
              <a:rPr lang="en-US" sz="6000" b="1" dirty="0">
                <a:solidFill>
                  <a:schemeClr val="tx1"/>
                </a:solidFill>
              </a:rPr>
              <a:t>¿PREGUNTAS?</a:t>
            </a:r>
            <a:endParaRPr lang="en-US" sz="6000" dirty="0"/>
          </a:p>
        </p:txBody>
      </p:sp>
      <p:sp>
        <p:nvSpPr>
          <p:cNvPr id="6" name="equipo"/>
          <p:cNvSpPr txBox="1"/>
          <p:nvPr/>
        </p:nvSpPr>
        <p:spPr>
          <a:xfrm>
            <a:off x="4084168" y="4526280"/>
            <a:ext cx="4023360" cy="384048"/>
          </a:xfrm>
          <a:prstGeom prst="roundRect">
            <a:avLst>
              <a:gd name="adj" fmla="val 47619"/>
            </a:avLst>
          </a:prstGeom>
          <a:solidFill>
            <a:schemeClr val="accent2"/>
          </a:solidFill>
          <a:ln/>
        </p:spPr>
        <p:txBody>
          <a:bodyPr wrap="square" lIns="0" tIns="0" rIns="0" bIns="0" rtlCol="0" anchor="ctr"/>
          <a:lstStyle/>
          <a:p>
            <a:pPr algn="ctr" indent="0" marL="0">
              <a:buNone/>
            </a:pPr>
            <a:r>
              <a:rPr lang="en-US" sz="1500" b="1" dirty="0">
                <a:solidFill>
                  <a:schemeClr val="tx1"/>
                </a:solidFill>
              </a:rPr>
              <a:t>Equipo 3 · Monitoreo y resiliencia</a:t>
            </a:r>
            <a:endParaRPr lang="en-US" sz="1500" dirty="0"/>
          </a:p>
        </p:txBody>
      </p:sp>
      <p:pic>
        <p:nvPicPr>
          <p:cNvPr id="7" name="logo" descr="Logo de la Universidad de la Sierra Sur">    </p:cNvPr>
          <p:cNvPicPr>
            <a:picLocks noChangeAspect="1"/>
          </p:cNvPicPr>
          <p:nvPr/>
        </p:nvPicPr>
        <p:blipFill>
          <a:blip r:embed="rId4"/>
          <a:stretch>
            <a:fillRect/>
          </a:stretch>
        </p:blipFill>
        <p:spPr>
          <a:xfrm>
            <a:off x="5638648" y="5120640"/>
            <a:ext cx="914400" cy="914400"/>
          </a:xfrm>
          <a:prstGeom prst="rect">
            <a:avLst/>
          </a:prstGeom>
        </p:spPr>
      </p:pic>
    </p:spTree>
  </p:cSld>
  <p:clrMapOvr>
    <a:masterClrMapping/>
  </p:clrMapOvr>
</p:sld>
</file>

<file path=ppt/theme/theme1.xml><?xml version="1.0" encoding="utf-8"?>
<a:theme xmlns:a="http://schemas.openxmlformats.org/drawingml/2006/main" name="Gaceta UNSIS Equipo 3">
  <a:themeElements>
    <a:clrScheme name="Gaceta UNSIS Equipo 3">
      <a:dk1>
        <a:srgbClr val="0A2238"/>
      </a:dk1>
      <a:lt1>
        <a:srgbClr val="FFFFFF"/>
      </a:lt1>
      <a:dk2>
        <a:srgbClr val="2B3D63"/>
      </a:dk2>
      <a:lt2>
        <a:srgbClr val="EFE7E1"/>
      </a:lt2>
      <a:accent1>
        <a:srgbClr val="0D4A80"/>
      </a:accent1>
      <a:accent2>
        <a:srgbClr val="D9AE5F"/>
      </a:accent2>
      <a:accent3>
        <a:srgbClr val="B48C5E"/>
      </a:accent3>
      <a:accent4>
        <a:srgbClr val="C62828"/>
      </a:accent4>
      <a:accent5>
        <a:srgbClr val="2E7D4F"/>
      </a:accent5>
      <a:accent6>
        <a:srgbClr val="6B7A90"/>
      </a:accent6>
      <a:hlink>
        <a:srgbClr val="0D4A80"/>
      </a:hlink>
      <a:folHlink>
        <a:srgbClr val="2B3D63"/>
      </a:folHlink>
    </a:clrScheme>
    <a:fontScheme name="Gaceta UNSIS Equipo 3">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Universidad de la Sierra Sur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Monitoreo y resiliencia — Equipo 3</dc:title>
  <dc:subject>PptxGenJS Presentation</dc:subject>
  <dc:creator>Equipo 3 · UNSIS</dc:creator>
  <cp:lastModifiedBy>Equipo 3 · UNSIS</cp:lastModifiedBy>
  <cp:revision>1</cp:revision>
  <dcterms:created xsi:type="dcterms:W3CDTF">2026-10-29T16:28:53Z</dcterms:created>
  <dcterms:modified xsi:type="dcterms:W3CDTF">2026-10-29T16:28:53Z</dcterms:modified>
</cp:coreProperties>
</file>